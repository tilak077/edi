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66760" y="685800"/>
            <a:ext cx="3063240" cy="1005840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0" y="1920240"/>
            <a:ext cx="2286000" cy="1005840"/>
          </a:xfrm>
          <a:prstGeom prst="round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5279" y="3154680"/>
            <a:ext cx="3474720" cy="1051560"/>
          </a:xfrm>
          <a:prstGeom prst="round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0" y="4434840"/>
            <a:ext cx="2560320" cy="731520"/>
          </a:xfrm>
          <a:prstGeom prst="roundRect">
            <a:avLst/>
          </a:prstGeom>
          <a:solidFill>
            <a:srgbClr val="31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694944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 dirty="0">
                <a:solidFill>
                  <a:srgbClr val="E0A637"/>
                </a:solidFill>
                <a:latin typeface="Aptos"/>
              </a:rPr>
              <a:t>STUDENT PROGRESS REVIEW</a:t>
            </a:r>
            <a:r>
              <a:rPr lang="en-US" sz="1600" b="1" dirty="0">
                <a:solidFill>
                  <a:srgbClr val="E0A637"/>
                </a:solidFill>
                <a:latin typeface="Aptos"/>
              </a:rPr>
              <a:t> – DT – DEPT OF AI &amp; DS</a:t>
            </a:r>
            <a:endParaRPr sz="1600" b="1" dirty="0">
              <a:solidFill>
                <a:srgbClr val="E0A63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223760" cy="1645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Research Paper
&amp; Patent Filing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667512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900" b="0">
                <a:solidFill>
                  <a:srgbClr val="DCE6F0"/>
                </a:solidFill>
                <a:latin typeface="Aptos"/>
              </a:rPr>
              <a:t>A structured presentation deck to assess research quality, innovation readiness, milestones and next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5943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Student / Team: 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5943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Department: 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5943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Faculty Mentor: 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09360"/>
            <a:ext cx="68580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C8D7E4"/>
                </a:solidFill>
                <a:latin typeface="Aptos"/>
              </a:rPr>
              <a:t>VIT Pune | Review No. ____ | Date: __________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B46F51-C66C-C016-602B-EF2497623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34567"/>
            <a:ext cx="6858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Purpose, Scope and Review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56616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289304"/>
            <a:ext cx="3200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673352"/>
            <a:ext cx="3200400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• Verify evidence of progress
• Assess quality and originality
• Identify risks and support needs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6616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289304"/>
            <a:ext cx="3200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Review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673352"/>
            <a:ext cx="3200400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• Progress score and status
• Mentor/panel feedback
• Dated action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4747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73152" cy="18288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289304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Evidence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673352"/>
            <a:ext cx="3108960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• Drafts, results, figures
• Search logs and prototype proof
• Submission/filing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74720"/>
            <a:ext cx="2011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62D4E"/>
                </a:solidFill>
                <a:latin typeface="Aptos"/>
              </a:rPr>
              <a:t>Suggested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1088136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12–15 slides per student/team; 10–15 minutes presentation plus panel discussion.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Present only verifiable progress since the previous review.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Use separate status labels for research-paper and patent milestones.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A draft is not a submission; a patent draft is not a filed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Student / Team Profile and Intended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8872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Details to be completed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Student(s) / Roll number(s)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Programme / Department / Year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Faculty mentor / Co-mentor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Project title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Review number /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Target output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☐ Research paper  ☐ Patent  ☐ Both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Target venue / application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A6978"/>
                </a:solidFill>
                <a:latin typeface="Aptos"/>
              </a:rPr>
              <a:t>Attach evidence index or links to working documents in the review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Problem Statement, Objectives and Expected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COMMON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Problem and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4937759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What problem is being solved? Who experiences it? Why does it matter?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Research gap / unmet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73352"/>
            <a:ext cx="4937759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What is missing in existing literature, products or patents? Cite the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73152" cy="18288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43814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Objectives and success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822191"/>
            <a:ext cx="4937759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List 2–4 measurable objectives and how success will be evaluated.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9184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73152" cy="1828800"/>
          </a:xfrm>
          <a:prstGeom prst="rect">
            <a:avLst/>
          </a:prstGeom>
          <a:solidFill>
            <a:srgbClr val="31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43814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Expected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822191"/>
            <a:ext cx="4937759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State the technical/scientific contribution and intended beneficiaries.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62D4E"/>
                </a:solidFill>
                <a:latin typeface="Aptos"/>
              </a:rPr>
              <a:t>Panel check: Is the scope feasible, specific, and aligned with the intended output?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Literature Review and Prior-Art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COMMON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 / work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 or invention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Limitation / gap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our work differs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Paper / patent 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Paper / patent 2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Paper / patent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Paper / patent 4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72000"/>
            <a:ext cx="5212080" cy="11430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73152" cy="11430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471830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Search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102352"/>
            <a:ext cx="4846320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Databases, search terms, date searched and inclusion criteria.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5212080" cy="11430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4572000"/>
            <a:ext cx="73152" cy="11430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471830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Critical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102352"/>
            <a:ext cx="4846320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Do not only list sources; explain limitations and differences.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Methodology, Implementation and Work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COMMON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Method /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3154680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Add a workflow, block diagram, algorithm, design or system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289304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673352"/>
            <a:ext cx="3154680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Tools, dataset, equipment, prototype, simulation or experimental setup.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8288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Work since last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73352"/>
            <a:ext cx="3154680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Quantify tasks completed and attach dated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2377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62D4E"/>
                </a:solidFill>
                <a:latin typeface="Aptos"/>
              </a:rPr>
              <a:t>Evidence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1078992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Code repository / version history / experiment log (where applicable).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Prototype photos, CAD drawings, circuit diagrams or simulation outputs.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Dataset provenance, permissions, ethics approval and reproducibility notes, as relevant.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Explain any deviations from the approved plan and why they were necessary.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Results, Validation and Technical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COMMON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9659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9659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3154680" cy="1307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Insert graphs, tables, screenshots or prototype test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9659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96596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289304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Baseline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673352"/>
            <a:ext cx="3154680" cy="1307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Compare with a relevant baseline, prior method or existing 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9659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96596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73352"/>
            <a:ext cx="3154680" cy="1307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State failures, constraints, uncertainty and what remains untested.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1051560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62D4E"/>
                </a:solidFill>
                <a:latin typeface="Aptos"/>
              </a:rPr>
              <a:t>For quantitative studies, report suitable metrics and experimental conditions; avoid unsupported claims.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51560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For qualitative or design-based research, show the evidence and evaluation criteria appropriate to the method.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008287"/>
                </a:solidFill>
                <a:latin typeface="Aptos"/>
              </a:rPr>
              <a:t>Panel prompt: Can another researcher understand how the result was obtained and verify the claim?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Research Paper Track: Manuscript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RESEARCH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430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pending work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Title, abstract, keywords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Not started / Draft / Ready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Introduction and research gap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Not started / Draft / Ready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Related work and citations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Not started / Draft / Ready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Methodology / reproducibility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Not started / Draft / Ready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Results, discussion, limitations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Not started / Draft / Ready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Conclusion and future work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Not started / Draft / Ready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References, figures, formatting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Not started / Draft / Ready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06440"/>
            <a:ext cx="108813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008287"/>
                </a:solidFill>
                <a:latin typeface="Aptos"/>
              </a:rPr>
              <a:t>Quality checks: contribution is explicit; evidence supports claims; citations are accurate; required ethics/data statements are included.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Research Paper Track: Venue and Submission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RESEARCH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Target 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4937759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Journal / conference: ____________________
Scope fit and author guidelines checked: ☐ Yes ☐ No
Indexing/quality verified from official sources: ☐ Yes ☐ 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Submission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73352"/>
            <a:ext cx="4937759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☐ Drafting  ☐ Mentor review  ☐ Submitted
☐ Revision  ☐ Accepted  ☐ Published
Submission date / ID: 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62D4E"/>
                </a:solidFill>
                <a:latin typeface="Aptos"/>
              </a:rPr>
              <a:t>If submitted or under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Summarise reviewer/editor comments and response plan, if any.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State the next milestone and realistic target date.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Record authorship contribution and confirm all co-authors have approved the submission.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Do not claim acceptance or publication without documentary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Patent Track: Invention and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PATENT 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Invention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4937759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Title: ______________________________
Technical problem: ___________________
Proposed technical solution: 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Novel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73352"/>
            <a:ext cx="4937759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List the features believed to be new and the technical effect of each. Distinguish evidence from assumptions.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62D4E"/>
                </a:solidFill>
                <a:latin typeface="Aptos"/>
              </a:rPr>
              <a:t>Prior-art search record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3840480"/>
          <a:ext cx="108356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Database / source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Search terms /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Closest document and difference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008287"/>
                </a:solidFill>
                <a:latin typeface="Aptos"/>
              </a:rPr>
              <a:t>Potential patentability should be assessed by an appropriate IPR professional; novelty, inventive step and industrial applicability require careful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Patent Track: Documentation and Filing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PATENT 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Deliverable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next action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Invention disclosure submitted to institute IPR cell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Inventor details and ownership reviewed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Prototype / proof of concept / technical drawings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Specification and claims drafted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Internal approval / patent professional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Application filed; receipt/application number recorded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394960"/>
            <a:ext cx="5212080" cy="73152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5394960"/>
            <a:ext cx="73152" cy="73152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554126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Confidentiality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925312"/>
            <a:ext cx="4846320" cy="73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32D37"/>
                </a:solidFill>
                <a:latin typeface="Aptos"/>
              </a:rPr>
              <a:t>Do not publicly disclose invention details before checking filing strategy.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394960"/>
            <a:ext cx="5212080" cy="73152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5394960"/>
            <a:ext cx="73152" cy="7315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554126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Status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925312"/>
            <a:ext cx="4846320" cy="73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32D37"/>
                </a:solidFill>
                <a:latin typeface="Aptos"/>
              </a:rPr>
              <a:t>Draft prepared ≠ application filed ≠ patent granted.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Milestone Tracker: Planned vs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PROGRESS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Milestone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Planned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variance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Literature / prior-art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Method / prototype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Results / validation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Paper / patent draft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Submission / filing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Revision / follow-up action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62D4E"/>
                </a:solidFill>
                <a:latin typeface="Aptos"/>
              </a:rPr>
              <a:t>For each delayed milestone, record the cause, recovery action, owner and revised deadline.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Challenges, Risks and Support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PROGRESS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801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Issue / risk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Support / mitigation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Due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663440"/>
            <a:ext cx="521208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4663440"/>
            <a:ext cx="73152" cy="10515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480974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Possible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193792"/>
            <a:ext cx="4846320" cy="3931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Lab access, dataset, equipment, domain expert, writing/statistics help, IPR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63440"/>
            <a:ext cx="521208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4663440"/>
            <a:ext cx="73152" cy="105156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480974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Escalation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193792"/>
            <a:ext cx="4846320" cy="3931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Flag unresolved dependencies, ethical concerns, ownership questions or scope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Assessment Rubric: 100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PANEL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2588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Criterion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Research paper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Patent filing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Problem and literature / prior-art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Originality / contribution / novelty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Methodology / technical feasibility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Results / prototype / validation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Manuscript / documentation / filing readiness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983480"/>
            <a:ext cx="333756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983480"/>
            <a:ext cx="73152" cy="914400"/>
          </a:xfrm>
          <a:prstGeom prst="rect">
            <a:avLst/>
          </a:prstGeom>
          <a:solidFill>
            <a:srgbClr val="31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5129784"/>
            <a:ext cx="2971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75–100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513832"/>
            <a:ext cx="2971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On track; verify evidence and next milestones.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983480"/>
            <a:ext cx="333756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4983480"/>
            <a:ext cx="73152" cy="9144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5129784"/>
            <a:ext cx="2971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50–74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5513832"/>
            <a:ext cx="2971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Needs improvement; corrective plan required.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983480"/>
            <a:ext cx="333756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4983480"/>
            <a:ext cx="73152" cy="914400"/>
          </a:xfrm>
          <a:prstGeom prst="rect">
            <a:avLst/>
          </a:prstGeom>
          <a:solidFill>
            <a:srgbClr val="B44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5129784"/>
            <a:ext cx="2971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Below 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5513832"/>
            <a:ext cx="2971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Intensive mentoring and early follow-up.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A6978"/>
                </a:solidFill>
                <a:latin typeface="Aptos"/>
              </a:rPr>
              <a:t>Suggested internal rubric only. Score progress and evidence, not guaranteed acceptance or patent grant.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Next Review Action Plan and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 / deliverable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Responsible person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Deadline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expected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1. 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2. 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3. 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4. 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892040"/>
            <a:ext cx="347472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4892040"/>
            <a:ext cx="73152" cy="9144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5038344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Panel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422392"/>
            <a:ext cx="31089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☐ On track  ☐ Conditional  ☐ At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892040"/>
            <a:ext cx="347472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4892040"/>
            <a:ext cx="73152" cy="9144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5038344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Student acknowledgement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5422392"/>
            <a:ext cx="31089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Name / signature: 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892040"/>
            <a:ext cx="347472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4892040"/>
            <a:ext cx="73152" cy="9144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5038344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Mentor /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5422392"/>
            <a:ext cx="31089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Name / signature: __________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Evidence Checklist and Review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008287"/>
                </a:solidFill>
                <a:latin typeface="Aptos"/>
              </a:rPr>
              <a:t>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A6978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5A6978"/>
                </a:solidFill>
                <a:latin typeface="Aptos"/>
              </a:rPr>
              <a:t>STUDENT RESEARCH &amp; INNOVATION PROGRESS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35661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35661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Research paper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4937759" cy="29077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☐ Literature matrix and gap statement
☐ Draft manuscript with figures/references
☐ Results, data and validation evidence
☐ Venue scope and guideline check
☐ Similarity / ethics / authorship checks
☐ Submission receipt or status evidence, if applicable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35661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356616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3775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62D4E"/>
                </a:solidFill>
                <a:latin typeface="Aptos"/>
              </a:rPr>
              <a:t>Patent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73352"/>
            <a:ext cx="4937759" cy="29077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☐ Invention disclosure record
☐ Prior-art search log and closest references
☐ Prototype / drawings / technical description
☐ Draft specification and claims, if prepared
☐ IPR cell / patent professional feedback
☐ Filing receipt and application number, if filed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22860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62D4E"/>
                </a:solidFill>
                <a:latin typeface="Aptos"/>
              </a:rPr>
              <a:t>Final review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☐ Progress accepted   ☐ Accepted with actions   ☐ Re-review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008287"/>
                </a:solidFill>
                <a:latin typeface="Aptos"/>
              </a:rPr>
              <a:t>Remember: assess the quality and evidence of work completed; keep research publication and patent filing status distinct.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1597</Words>
  <Application>Microsoft Office PowerPoint</Application>
  <PresentationFormat>Widescreen</PresentationFormat>
  <Paragraphs>346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Parikshit Mahalle</cp:lastModifiedBy>
  <cp:revision>3</cp:revision>
  <dcterms:created xsi:type="dcterms:W3CDTF">2013-01-27T09:14:16Z</dcterms:created>
  <dcterms:modified xsi:type="dcterms:W3CDTF">2026-10-19T08:43:22Z</dcterms:modified>
  <cp:category/>
</cp:coreProperties>
</file>