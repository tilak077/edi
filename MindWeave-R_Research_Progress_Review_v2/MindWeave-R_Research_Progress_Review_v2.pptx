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a227359c6f4b3a" /><Relationship Type="http://schemas.openxmlformats.org/officeDocument/2006/relationships/extended-properties" Target="/docProps/app.xml" Id="R792f0d4d14314f0a" /><Relationship Type="http://schemas.openxmlformats.org/officeDocument/2006/relationships/officeDocument" Target="/ppt/presentation.xml" Id="R5f086f45a84744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798ed251c14b05"/>
  </p:sldMasterIdLst>
  <p:notesMasterIdLst>
    <p:notesMasterId xmlns:r="http://schemas.openxmlformats.org/officeDocument/2006/relationships" r:id="Rdb05820287fa4f22"/>
  </p:notesMasterIdLst>
  <p:sldIdLst>
    <p:sldId xmlns:r="http://schemas.openxmlformats.org/officeDocument/2006/relationships" id="256" r:id="R38df72959ea1403c"/>
    <p:sldId xmlns:r="http://schemas.openxmlformats.org/officeDocument/2006/relationships" id="257" r:id="R6a80dc97689940a1"/>
    <p:sldId xmlns:r="http://schemas.openxmlformats.org/officeDocument/2006/relationships" id="258" r:id="R5c4f14a096104b54"/>
    <p:sldId xmlns:r="http://schemas.openxmlformats.org/officeDocument/2006/relationships" id="259" r:id="R0da92a22607c4078"/>
    <p:sldId xmlns:r="http://schemas.openxmlformats.org/officeDocument/2006/relationships" id="260" r:id="Radc4febfddf54db8"/>
    <p:sldId xmlns:r="http://schemas.openxmlformats.org/officeDocument/2006/relationships" id="261" r:id="R53f96b4b9873443a"/>
    <p:sldId xmlns:r="http://schemas.openxmlformats.org/officeDocument/2006/relationships" id="262" r:id="R5be0c3378cd34b5a"/>
    <p:sldId xmlns:r="http://schemas.openxmlformats.org/officeDocument/2006/relationships" id="263" r:id="R4fb90ab37ca341fc"/>
    <p:sldId xmlns:r="http://schemas.openxmlformats.org/officeDocument/2006/relationships" id="264" r:id="R86d9b1f797c74ddc"/>
    <p:sldId xmlns:r="http://schemas.openxmlformats.org/officeDocument/2006/relationships" id="265" r:id="R3bf0813131a64ea4"/>
    <p:sldId xmlns:r="http://schemas.openxmlformats.org/officeDocument/2006/relationships" id="266" r:id="Rf7772cd06b39490e"/>
    <p:sldId xmlns:r="http://schemas.openxmlformats.org/officeDocument/2006/relationships" id="267" r:id="Ra260e26518ad411a"/>
    <p:sldId xmlns:r="http://schemas.openxmlformats.org/officeDocument/2006/relationships" id="268" r:id="R7c4936675ccb4af8"/>
    <p:sldId xmlns:r="http://schemas.openxmlformats.org/officeDocument/2006/relationships" id="269" r:id="R994bd5fdabe541bb"/>
    <p:sldId xmlns:r="http://schemas.openxmlformats.org/officeDocument/2006/relationships" id="270" r:id="R35c3141d64c348a7"/>
    <p:sldId xmlns:r="http://schemas.openxmlformats.org/officeDocument/2006/relationships" id="271" r:id="Rbb077ce16ebe4794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d17dc18b194401" /><Relationship Type="http://schemas.openxmlformats.org/officeDocument/2006/relationships/slideMaster" Target="/ppt/slideMasters/slideMaster1.xml" Id="R0f798ed251c14b05" /><Relationship Type="http://schemas.openxmlformats.org/officeDocument/2006/relationships/notesMaster" Target="/ppt/notesMasters/notesMaster1.xml" Id="Rdb05820287fa4f22" /><Relationship Type="http://schemas.openxmlformats.org/officeDocument/2006/relationships/presProps" Target="/ppt/presProps.xml" Id="R75bcc3eeaeea44e7" /><Relationship Type="http://schemas.openxmlformats.org/officeDocument/2006/relationships/viewProps" Target="/ppt/viewProps.xml" Id="Rc4cf46ac6634479f" /><Relationship Type="http://schemas.openxmlformats.org/officeDocument/2006/relationships/tableStyles" Target="/ppt/tableStyles.xml" Id="R00b4d51bce4a4e22" /><Relationship Type="http://schemas.openxmlformats.org/officeDocument/2006/relationships/slide" Target="/ppt/slides/slide1.xml" Id="R38df72959ea1403c" /><Relationship Type="http://schemas.openxmlformats.org/officeDocument/2006/relationships/slide" Target="/ppt/slides/slide2.xml" Id="R6a80dc97689940a1" /><Relationship Type="http://schemas.openxmlformats.org/officeDocument/2006/relationships/slide" Target="/ppt/slides/slide3.xml" Id="R5c4f14a096104b54" /><Relationship Type="http://schemas.openxmlformats.org/officeDocument/2006/relationships/slide" Target="/ppt/slides/slide4.xml" Id="R0da92a22607c4078" /><Relationship Type="http://schemas.openxmlformats.org/officeDocument/2006/relationships/slide" Target="/ppt/slides/slide5.xml" Id="Radc4febfddf54db8" /><Relationship Type="http://schemas.openxmlformats.org/officeDocument/2006/relationships/slide" Target="/ppt/slides/slide6.xml" Id="R53f96b4b9873443a" /><Relationship Type="http://schemas.openxmlformats.org/officeDocument/2006/relationships/slide" Target="/ppt/slides/slide7.xml" Id="R5be0c3378cd34b5a" /><Relationship Type="http://schemas.openxmlformats.org/officeDocument/2006/relationships/slide" Target="/ppt/slides/slide8.xml" Id="R4fb90ab37ca341fc" /><Relationship Type="http://schemas.openxmlformats.org/officeDocument/2006/relationships/slide" Target="/ppt/slides/slide9.xml" Id="R86d9b1f797c74ddc" /><Relationship Type="http://schemas.openxmlformats.org/officeDocument/2006/relationships/slide" Target="/ppt/slides/slide10.xml" Id="R3bf0813131a64ea4" /><Relationship Type="http://schemas.openxmlformats.org/officeDocument/2006/relationships/slide" Target="/ppt/slides/slide11.xml" Id="Rf7772cd06b39490e" /><Relationship Type="http://schemas.openxmlformats.org/officeDocument/2006/relationships/slide" Target="/ppt/slides/slide12.xml" Id="Ra260e26518ad411a" /><Relationship Type="http://schemas.openxmlformats.org/officeDocument/2006/relationships/slide" Target="/ppt/slides/slide13.xml" Id="R7c4936675ccb4af8" /><Relationship Type="http://schemas.openxmlformats.org/officeDocument/2006/relationships/slide" Target="/ppt/slides/slide14.xml" Id="R994bd5fdabe541bb" /><Relationship Type="http://schemas.openxmlformats.org/officeDocument/2006/relationships/slide" Target="/ppt/slides/slide15.xml" Id="R35c3141d64c348a7" /><Relationship Type="http://schemas.openxmlformats.org/officeDocument/2006/relationships/slide" Target="/ppt/slides/slide16.xml" Id="Rbb077ce16ebe47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c2cdf1a32c4e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94fef483114832" /><Relationship Type="http://schemas.openxmlformats.org/officeDocument/2006/relationships/notesMaster" Target="/ppt/notesMasters/notesMaster1.xml" Id="Ra38bc97765e946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76f6b72bb04bf0" /><Relationship Type="http://schemas.openxmlformats.org/officeDocument/2006/relationships/notesMaster" Target="/ppt/notesMasters/notesMaster1.xml" Id="Re025698a89294c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8a7809d8a042a6" /><Relationship Type="http://schemas.openxmlformats.org/officeDocument/2006/relationships/notesMaster" Target="/ppt/notesMasters/notesMaster1.xml" Id="Rc7b459589c6f4e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e142dfab1f4967" /><Relationship Type="http://schemas.openxmlformats.org/officeDocument/2006/relationships/notesMaster" Target="/ppt/notesMasters/notesMaster1.xml" Id="Rd3df3c1b6a0c4d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78ca817c7a4db2" /><Relationship Type="http://schemas.openxmlformats.org/officeDocument/2006/relationships/notesMaster" Target="/ppt/notesMasters/notesMaster1.xml" Id="Rb78f5953ffbd4c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4436883e7c4d2b" /><Relationship Type="http://schemas.openxmlformats.org/officeDocument/2006/relationships/notesMaster" Target="/ppt/notesMasters/notesMaster1.xml" Id="R1504a86d499e40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510b8cb632457b" /><Relationship Type="http://schemas.openxmlformats.org/officeDocument/2006/relationships/notesMaster" Target="/ppt/notesMasters/notesMaster1.xml" Id="Reb621cf0aa0c41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cadc889d6c4a9a" /><Relationship Type="http://schemas.openxmlformats.org/officeDocument/2006/relationships/notesMaster" Target="/ppt/notesMasters/notesMaster1.xml" Id="R99e295b6401c49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0ff8863aae40f6" /><Relationship Type="http://schemas.openxmlformats.org/officeDocument/2006/relationships/notesMaster" Target="/ppt/notesMasters/notesMaster1.xml" Id="R88608320c44d4b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e9c2ff44cf4a10" /><Relationship Type="http://schemas.openxmlformats.org/officeDocument/2006/relationships/notesMaster" Target="/ppt/notesMasters/notesMaster1.xml" Id="R66a5d49e822041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a1e823e75c4201" /><Relationship Type="http://schemas.openxmlformats.org/officeDocument/2006/relationships/notesMaster" Target="/ppt/notesMasters/notesMaster1.xml" Id="R71e1962a986f4ed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423fd9b94b4585" /><Relationship Type="http://schemas.openxmlformats.org/officeDocument/2006/relationships/notesMaster" Target="/ppt/notesMasters/notesMaster1.xml" Id="Rdaaa5c72e4724fc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3dd6c39c6754220" /><Relationship Type="http://schemas.openxmlformats.org/officeDocument/2006/relationships/notesMaster" Target="/ppt/notesMasters/notesMaster1.xml" Id="R8ad1989753ae4a4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78161781f4c4540" /><Relationship Type="http://schemas.openxmlformats.org/officeDocument/2006/relationships/notesMaster" Target="/ppt/notesMasters/notesMaster1.xml" Id="R19d77752a8364f5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d7d19f5726344cd" /><Relationship Type="http://schemas.openxmlformats.org/officeDocument/2006/relationships/notesMaster" Target="/ppt/notesMasters/notesMaster1.xml" Id="Redb670e7a2a1437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816f18b15249c3" /><Relationship Type="http://schemas.openxmlformats.org/officeDocument/2006/relationships/notesMaster" Target="/ppt/notesMasters/notesMaster1.xml" Id="R422cd54894a34e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AutoGen: Wu et al. (2023), https://arxiv.org/abs/2308.08155</a:t>
            </a:r>
          </a:p>
          <a:p xmlns:a="http://schemas.openxmlformats.org/drawingml/2006/main">
            <a:r>
              <a:t>FlowBench: Xiao et al. (2024), Findings of EMNLP, https://aclanthology.org/2024.findings-emnlp.638/</a:t>
            </a:r>
          </a:p>
          <a:p xmlns:a="http://schemas.openxmlformats.org/drawingml/2006/main">
            <a:r>
              <a:t>WorfBench / WorfEval: ICLR 2025, https://openreview.net/forum?id=1VU7zLtQyW</a:t>
            </a:r>
          </a:p>
          <a:p xmlns:a="http://schemas.openxmlformats.org/drawingml/2006/main">
            <a:r>
              <a:t>LLM-as-Scheduler: Xiang et al. (2026), ACL Anthology, https://aclanthology.org/2026.acl-long.581/</a:t>
            </a:r>
          </a:p>
          <a:p xmlns:a="http://schemas.openxmlformats.org/drawingml/2006/main">
            <a:r>
              <a:t>These works motivate comparison; the slide does not claim that MindWeave-R is novel or superior.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describes a preliminary invention concept, not a novelty opinion. Patent databases have not yet been searched. Discuss filing timing with the institute IPR office before public disclosure.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ebbfe7d156424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b058328093429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059cebecdf405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c7af032e8a49f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4aee43bc6e4b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8f3be38c4b4a1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f2a2fb93ba451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293b34e9bf44c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2d69227c1344d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5d338f87e1436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52ff6777624cf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E380E30-2A72-4ECF-A9E1-87C21B816E5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3C04248-46E5-4460-B70B-3AE0B709762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171863B-5C97-4D3F-892D-59E250570F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5FBD6B7-8A29-418C-A998-039EDD6A51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498AA11-C25A-4201-ACC1-57A2B38358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5AA001-5784-497A-BFDA-9DDE929079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85D57C3-4495-455F-A302-13C0DF21129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4F1F3E9-5B33-416D-B2F7-ADA019EBC2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FF4AD6F-EAE9-436F-9881-83A25AD5CD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BC0C0E9-E826-404D-AB18-E88AA8BD0A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D3DB5D-F81F-4EC7-BD30-1A1E3DDB07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AD2691E-E340-46AD-8FC7-FD91E49E23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7E6CE5D-3DDF-4311-916B-99A57F4080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4D71619-7C21-47EB-99D7-C0C62B893F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9A1B8F4-C378-46E8-931F-08FB62E5DA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D00E6D-5F65-4750-B321-7F85157FAF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C7F1002-ABE0-4B90-B946-095E6DB353B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32BD08E-C5AC-420F-AE92-7BDAC858F16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E155FBD-43D5-4F18-9C58-F29A09C9DE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8E8EF04-C04E-4917-ABFD-1E67C3DC5D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A0EDCBD-00C2-4525-85D8-9BA5332AC0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BF9B113-2272-4648-9021-AC561998D5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4D587E7-53D0-4B76-92AB-0729089CF7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5667A96-DF0A-465D-972E-69C37CF729F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D949697-42FE-42B4-AB13-1F064EA5E43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3E11777-33D7-4942-9045-45038E3B2A4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69A7F97C-1C21-4D34-AE2B-670C98A1A2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BF7B8E0-C53C-4446-9401-379F09DC35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D04C147-FF11-4AF3-B39C-B7CB0C383E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3CF879B-EC7F-45D2-9E6A-41BF3803A2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DE9074D-A9F3-437C-B225-24A808DB2A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CEE36EF-4890-41BD-9D88-DC39ACDFE6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9D21F6D-0201-4FCB-BDA3-588A9BE662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A43C06C-806D-4180-8321-301080C257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9B43D37-D59D-44F6-999D-8138287FAB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60BDA6D-B2BD-45BA-8B99-D040366C2B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FA1A8E5-A422-4790-AE4C-C728C5AE5C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F864A8D-ED67-4362-B72A-FCB2D10507C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B062723-BAA5-4882-93FD-5B8747A8C01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E153F3A-2420-45C0-90BC-66F1F811E0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AEC016F-904F-412C-A2B7-DC237A7CEA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064D162-0370-4A3D-93F3-0A53220B2B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2B2BC5-7EF8-4DC9-B3FF-A338CEF5B8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0218514-3710-4379-BF85-B5446772154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AC09547-D205-4D3E-B082-F555A80346C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48D0A7D-D072-4F77-B952-FDE3C802E7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F63FB1B-3484-423C-B8F1-49795E7FF1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0D5B947-4BBE-49A7-9B11-1DC7F2E757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AE44C24-9388-48EA-832D-20A25F91AF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60D6A0F-2874-4EBE-A594-47924943D5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A115DA7-3F4A-47F5-8DD6-96575F84B8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A99F938-9BD2-4630-942B-180C29BB0B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D4A3D38-18CF-4978-93AA-29C7BF28E7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0C30D3F-7745-47D7-BD66-400D2BE1ED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72DAEEB-0AB1-4AC8-89DB-3F7B74710C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776B7F3-9337-4855-8CAD-C0AACA2E05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9B2FC6F-24E6-44C2-A7A9-3BF7B890FE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1E08E00-F083-4874-8FD9-FD20CDEAD1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f1ac48d00f4eab" /><Relationship Type="http://schemas.openxmlformats.org/officeDocument/2006/relationships/slideLayout" Target="/ppt/slideLayouts/slideLayout1.xml" Id="Rff22e6c80619425c" /><Relationship Type="http://schemas.openxmlformats.org/officeDocument/2006/relationships/slideLayout" Target="/ppt/slideLayouts/slideLayout2.xml" Id="R30ec070ff4694e4d" /><Relationship Type="http://schemas.openxmlformats.org/officeDocument/2006/relationships/slideLayout" Target="/ppt/slideLayouts/slideLayout3.xml" Id="R7da2c6f9eb3a463f" /><Relationship Type="http://schemas.openxmlformats.org/officeDocument/2006/relationships/slideLayout" Target="/ppt/slideLayouts/slideLayout4.xml" Id="R0a266f30f675443f" /><Relationship Type="http://schemas.openxmlformats.org/officeDocument/2006/relationships/slideLayout" Target="/ppt/slideLayouts/slideLayout5.xml" Id="Re1eb561120504ec7" /><Relationship Type="http://schemas.openxmlformats.org/officeDocument/2006/relationships/slideLayout" Target="/ppt/slideLayouts/slideLayout6.xml" Id="R2546bed95af14a01" /><Relationship Type="http://schemas.openxmlformats.org/officeDocument/2006/relationships/slideLayout" Target="/ppt/slideLayouts/slideLayout7.xml" Id="R15b524b6c27e4830" /><Relationship Type="http://schemas.openxmlformats.org/officeDocument/2006/relationships/slideLayout" Target="/ppt/slideLayouts/slideLayout8.xml" Id="R5adfeeabb22a4172" /><Relationship Type="http://schemas.openxmlformats.org/officeDocument/2006/relationships/slideLayout" Target="/ppt/slideLayouts/slideLayout9.xml" Id="Rad33b35db860430a" /><Relationship Type="http://schemas.openxmlformats.org/officeDocument/2006/relationships/slideLayout" Target="/ppt/slideLayouts/slideLayout10.xml" Id="Rec12a5ac251149c3" /><Relationship Type="http://schemas.openxmlformats.org/officeDocument/2006/relationships/slideLayout" Target="/ppt/slideLayouts/slideLayout11.xml" Id="Rbc0fc47b6bf747d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AFFF2B3-57EC-47AC-B439-AF3653CBD4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BA49B37-AAC4-4FFE-A85C-9DEB8470DC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37E13FE-012B-4D1C-807A-D11B14689C2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10/19/2026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204E805-6DC7-4915-AD71-CCE6A79FCC2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3EA56D-856B-47A1-9E7F-6B003E4778A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22e6c80619425c"/>
    <p:sldLayoutId xmlns:r="http://schemas.openxmlformats.org/officeDocument/2006/relationships" id="2147483650" r:id="R30ec070ff4694e4d"/>
    <p:sldLayoutId xmlns:r="http://schemas.openxmlformats.org/officeDocument/2006/relationships" id="2147483651" r:id="R7da2c6f9eb3a463f"/>
    <p:sldLayoutId xmlns:r="http://schemas.openxmlformats.org/officeDocument/2006/relationships" id="2147483652" r:id="R0a266f30f675443f"/>
    <p:sldLayoutId xmlns:r="http://schemas.openxmlformats.org/officeDocument/2006/relationships" id="2147483653" r:id="Re1eb561120504ec7"/>
    <p:sldLayoutId xmlns:r="http://schemas.openxmlformats.org/officeDocument/2006/relationships" id="2147483654" r:id="R2546bed95af14a01"/>
    <p:sldLayoutId xmlns:r="http://schemas.openxmlformats.org/officeDocument/2006/relationships" id="2147483655" r:id="R15b524b6c27e4830"/>
    <p:sldLayoutId xmlns:r="http://schemas.openxmlformats.org/officeDocument/2006/relationships" id="2147483656" r:id="R5adfeeabb22a4172"/>
    <p:sldLayoutId xmlns:r="http://schemas.openxmlformats.org/officeDocument/2006/relationships" id="2147483657" r:id="Rad33b35db860430a"/>
    <p:sldLayoutId xmlns:r="http://schemas.openxmlformats.org/officeDocument/2006/relationships" id="2147483658" r:id="Rec12a5ac251149c3"/>
    <p:sldLayoutId xmlns:r="http://schemas.openxmlformats.org/officeDocument/2006/relationships" id="2147483659" r:id="Rbc0fc47b6bf747de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28a84a28b424449" /><Relationship Type="http://schemas.openxmlformats.org/officeDocument/2006/relationships/image" Target="/ppt/media/image.png" Id="R524ef18df4874784" /><Relationship Type="http://schemas.openxmlformats.org/officeDocument/2006/relationships/notesSlide" Target="/ppt/notesSlides/notesSlide1.xml" Id="Rf372588b953a44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c54af12b38e455e" /><Relationship Type="http://schemas.openxmlformats.org/officeDocument/2006/relationships/notesSlide" Target="/ppt/notesSlides/notesSlide2.xml" Id="Rcddeea9dff2d46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91f858f0bef470c" /><Relationship Type="http://schemas.openxmlformats.org/officeDocument/2006/relationships/notesSlide" Target="/ppt/notesSlides/notesSlide3.xml" Id="R559b0295afa549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63e8bccb74d45c8" /><Relationship Type="http://schemas.openxmlformats.org/officeDocument/2006/relationships/notesSlide" Target="/ppt/notesSlides/notesSlide4.xml" Id="R210aa21c0e0a49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7213caedf246de" /><Relationship Type="http://schemas.openxmlformats.org/officeDocument/2006/relationships/notesSlide" Target="/ppt/notesSlides/notesSlide5.xml" Id="R33da8394702942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679079b3adb41f9" /><Relationship Type="http://schemas.openxmlformats.org/officeDocument/2006/relationships/notesSlide" Target="/ppt/notesSlides/notesSlide6.xml" Id="R97ad761cf6144d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72c1a035ab24a1d" /><Relationship Type="http://schemas.openxmlformats.org/officeDocument/2006/relationships/notesSlide" Target="/ppt/notesSlides/notesSlide7.xml" Id="R47c68276bdd345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e3400a005b4007" /><Relationship Type="http://schemas.openxmlformats.org/officeDocument/2006/relationships/notesSlide" Target="/ppt/notesSlides/notesSlide8.xml" Id="Rd71b0ed4df4744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93ac2d4245b4140" /><Relationship Type="http://schemas.openxmlformats.org/officeDocument/2006/relationships/notesSlide" Target="/ppt/notesSlides/notesSlide9.xml" Id="Rb9e02a04cceb41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78f7320c7a4982" /><Relationship Type="http://schemas.openxmlformats.org/officeDocument/2006/relationships/notesSlide" Target="/ppt/notesSlides/notesSlide10.xml" Id="R337d0b5215c445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7da5d7c9c5a4327" /><Relationship Type="http://schemas.openxmlformats.org/officeDocument/2006/relationships/notesSlide" Target="/ppt/notesSlides/notesSlide11.xml" Id="Ra52295aab00f4e2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168e4316dc0448c" /><Relationship Type="http://schemas.openxmlformats.org/officeDocument/2006/relationships/notesSlide" Target="/ppt/notesSlides/notesSlide12.xml" Id="R36c1078ec563498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b2c887904a94470" /><Relationship Type="http://schemas.openxmlformats.org/officeDocument/2006/relationships/notesSlide" Target="/ppt/notesSlides/notesSlide13.xml" Id="R15a57485aec0472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6ae3cda20a949f9" /><Relationship Type="http://schemas.openxmlformats.org/officeDocument/2006/relationships/notesSlide" Target="/ppt/notesSlides/notesSlide14.xml" Id="R3716cd26d9694e6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493bcdeb5284ce7" /><Relationship Type="http://schemas.openxmlformats.org/officeDocument/2006/relationships/notesSlide" Target="/ppt/notesSlides/notesSlide15.xml" Id="R154d99aefb034e1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359f7db23584405" /><Relationship Type="http://schemas.openxmlformats.org/officeDocument/2006/relationships/notesSlide" Target="/ppt/notesSlides/notesSlide16.xml" Id="R07a27ca9b0ab46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2D4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2C85E270-4C6F-4A66-BEE9-3B26EBC6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685800"/>
            <a:ext cx="306324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82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BC8E2B22-E93D-4CF6-9B31-ABC69B35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20240"/>
            <a:ext cx="228600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969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C1FB5125-9802-41C5-92E2-2809FC1A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3154680"/>
            <a:ext cx="347472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0A6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42B5E1C-F03B-429D-87D8-1279CACC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434840"/>
            <a:ext cx="2560320" cy="731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17D5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096182C-4EF5-4EDB-8981-E08224ED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777240"/>
            <a:ext cx="6949440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E0A637"/>
                </a:solidFill>
                <a:latin typeface="Aptos"/>
                <a:ea typeface="Aptos"/>
                <a:cs typeface="Aptos"/>
              </a:rPr>
              <a:t>STUDENT PROGRESS REVIEW | MINDWEAVE-R</a:t>
            </a:r>
            <a:endParaRPr sz="1600" b="1">
              <a:solidFill>
                <a:srgbClr val="E0A63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7878C43-DBED-4FB5-B08A-AF237DBC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17320"/>
            <a:ext cx="7223760" cy="1182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Contract-Aware Agent</a:t>
            </a:r>
          </a:p>
          <a:p xmlns:a="http://schemas.openxmlformats.org/drawingml/2006/main">
            <a:pPr algn="l">
              <a:buNone/>
            </a:pPr>
            <a:r>
              <a:rPr sz="3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Workflow Repair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9B35185-49FA-45EB-AF15-FDF961C9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6675120" cy="7254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0">
                <a:solidFill>
                  <a:srgbClr val="DCE6F0"/>
                </a:solidFill>
                <a:latin typeface="Aptos"/>
                <a:ea typeface="Aptos"/>
                <a:cs typeface="Aptos"/>
              </a:rPr>
              <a:t>A research prototype for repairing failed workflow contracts within cost and privacy limits, with traceable execution evidence.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5FC798D-5254-4398-9BBC-B7B853B5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92040"/>
            <a:ext cx="5943600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Student / Team: __________________________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8174937-ED27-478E-96BF-2869881F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349240"/>
            <a:ext cx="5943600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Department: ______________________________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3CFA72A-8154-48F4-AB39-BB303A0D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06440"/>
            <a:ext cx="5943600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Faculty Mentor: ___________________________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0BCAC86-42AE-4BC5-A8B6-9F1A4BCD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309360"/>
            <a:ext cx="6858000" cy="313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C8D7E4"/>
                </a:solidFill>
                <a:latin typeface="Aptos"/>
                <a:ea typeface="Aptos"/>
                <a:cs typeface="Aptos"/>
              </a:rPr>
              <a:t>MindWeave-R | Review No. ____ | Date: __________</a:t>
            </a:r>
          </a:p>
        </p:txBody>
      </p:sp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EF77A1E1-83CB-4FA5-B094-6DD4DB8B69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ef18df48747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67400" y="134567"/>
            <a:ext cx="685800" cy="933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4316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F90771F-E6DB-458F-85CA-8CE4C41C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52A6F41-F2AD-474C-A083-3657DBCD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"/>
            <a:ext cx="106070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Project Scope and Review Expectations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7E5DBBE-5210-43FF-88A0-318C528F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758952"/>
            <a:ext cx="169164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008287"/>
                </a:solidFill>
                <a:latin typeface="Aptos"/>
                <a:ea typeface="Aptos"/>
                <a:cs typeface="Aptos"/>
              </a:rPr>
              <a:t>OVERVIEW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2ADD177-DC56-4884-AFEE-A9B74EE5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73952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0">
                <a:solidFill>
                  <a:srgbClr val="5A697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CC7CE21-32F3-4B15-897F-B6530F6F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777240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A6978"/>
                </a:solidFill>
                <a:latin typeface="Aptos"/>
                <a:ea typeface="Aptos"/>
                <a:cs typeface="Aptos"/>
              </a:rPr>
              <a:t>MINDWEAVE-R RESEARCH &amp; INNOVATION REVIEW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2629494-3846-4DB4-B7A3-5DF88CAC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43000"/>
            <a:ext cx="356616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9"/>
          </a:solidFill>
          <a:ln xmlns:a="http://schemas.openxmlformats.org/drawingml/2006/main">
            <a:solidFill>
              <a:srgbClr val="DC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343959E-EADF-4E68-8E21-D4AE4F55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4300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2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938819E-01D2-4ACD-B86C-73098F0C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289304"/>
            <a:ext cx="3200400" cy="405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Research purpose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364F946-2471-42A5-B71A-996AC136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673352"/>
            <a:ext cx="3200400" cy="1289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• Study contract failures between agent nodes</a:t>
            </a:r>
          </a:p>
          <a:p xmlns:a="http://schemas.openxmlformats.org/drawingml/2006/main">
            <a:pPr algn="l">
              <a:buNone/>
            </a:pPr>
            <a:r>
              <a:rPr sz="15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• Test budget-aware repair selection</a:t>
            </a:r>
          </a:p>
          <a:p xmlns:a="http://schemas.openxmlformats.org/drawingml/2006/main">
            <a:pPr algn="l">
              <a:buNone/>
            </a:pPr>
            <a:r>
              <a:rPr sz="15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• Measure recovery and safety trade-offs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32360E1-C059-424E-AE6D-879808B5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143000"/>
            <a:ext cx="356616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9"/>
          </a:solidFill>
          <a:ln xmlns:a="http://schemas.openxmlformats.org/drawingml/2006/main">
            <a:solidFill>
              <a:srgbClr val="DC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6B16616-9536-464E-AAA8-C8C288FC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14300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69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FF65D43-5483-4618-AADD-0964AC44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289304"/>
            <a:ext cx="3200400" cy="405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Review outputs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0CCE78E-EED6-4F62-B7FE-E6381C9B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673352"/>
            <a:ext cx="3200400" cy="832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• Working local MVP and test suite</a:t>
            </a:r>
          </a:p>
          <a:p xmlns:a="http://schemas.openxmlformats.org/drawingml/2006/main">
            <a:pPr algn="l">
              <a:buNone/>
            </a:pPr>
            <a:r>
              <a:rPr sz="15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• Synthetic repair pilot and limitations</a:t>
            </a:r>
          </a:p>
          <a:p xmlns:a="http://schemas.openxmlformats.org/drawingml/2006/main">
            <a:pPr algn="l">
              <a:buNone/>
            </a:pPr>
            <a:r>
              <a:rPr sz="15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• Controlled evaluation plan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E2E004E4-FD9F-4C18-819E-87F43FBA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143000"/>
            <a:ext cx="347472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9"/>
          </a:solidFill>
          <a:ln xmlns:a="http://schemas.openxmlformats.org/drawingml/2006/main">
            <a:solidFill>
              <a:srgbClr val="DC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AFDD5DA-DAE1-4CB8-B66D-516F9943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14300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6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BE8B0C1-425D-45E1-B801-0CC03A30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1289304"/>
            <a:ext cx="3108960" cy="405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Evidence available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7EFFB43-B145-4F0F-9BB8-A07260CE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1673352"/>
            <a:ext cx="3108960" cy="832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• Source code and backend tests</a:t>
            </a:r>
          </a:p>
          <a:p xmlns:a="http://schemas.openxmlformats.org/drawingml/2006/main">
            <a:pPr algn="l">
              <a:buNone/>
            </a:pPr>
            <a:r>
              <a:rPr sz="15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• 50-run deterministic fault script</a:t>
            </a:r>
          </a:p>
          <a:p xmlns:a="http://schemas.openxmlformats.org/drawingml/2006/main">
            <a:pPr algn="l">
              <a:buNone/>
            </a:pPr>
            <a:r>
              <a:rPr sz="15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• Execution traces and repair hashes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2B55804-303E-46BF-AF47-596DD52A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4720"/>
            <a:ext cx="20116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Study boundary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DA211EA-7887-48C7-844C-0C5F6D3A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81360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70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t>The prototype runs deterministic demo workflows and injected faults.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70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t>The 50-run CSV is a smoke test, not comparative research evidence.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70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t>No controlled baseline study or real-model quality evaluation has been completed.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70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t>A prototype certificate records hashes; it does not prove an output is true.</a:t>
            </a:r>
          </a:p>
        </p:txBody>
      </p:sp>
    </p:spTree>
    <p:extLst>
      <p:ext uri="{BB962C8B-B14F-4D97-AF65-F5344CB8AC3E}">
        <p14:creationId xmlns:p14="http://schemas.microsoft.com/office/powerpoint/2010/main" val="7748425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69E140A-5057-4E30-AD5B-C2E36D67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E3508CF-C44D-416E-A01F-DF2C0846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"/>
            <a:ext cx="106070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MindWeave-R Project Profile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B8CFA89-833D-42A9-ACFF-9666B85B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758952"/>
            <a:ext cx="1691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008287"/>
                </a:solidFill>
                <a:latin typeface="Aptos"/>
                <a:ea typeface="Aptos"/>
                <a:cs typeface="Aptos"/>
              </a:rPr>
              <a:t>OVERVIEW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6141D72-86C8-4C7F-A0AE-40644E69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73952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0">
                <a:solidFill>
                  <a:srgbClr val="5A697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A66997A-19BA-4E13-BF71-854DA83B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777240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A6978"/>
                </a:solidFill>
                <a:latin typeface="Aptos"/>
                <a:ea typeface="Aptos"/>
                <a:cs typeface="Aptos"/>
              </a:rPr>
              <a:t>MINDWEAVE-R RESEARCH &amp; INNOVATION REVIEW</a:t>
            </a:r>
          </a:p>
        </p:txBody>
      </p:sp>
      <p:graphicFrame>
        <p:nvGraphicFramePr>
          <p:cNvPr id="7" name="Table 6">
            <a:extLst xmlns:a="http://schemas.openxmlformats.org/drawingml/2006/main">
              <a:ext uri="{FF2B5EF4-FFF2-40B4-BE49-F238E27FC236}">
                <a16:creationId xmlns:a16="http://schemas.microsoft.com/office/drawing/2014/main" id="{0B28AB25-958C-4F1C-87D1-44DCDF20A465}"/>
              </a:ext>
            </a:extLst>
          </p:cNvPr>
          <p:cNvGraphicFramePr/>
          <p:nvPr/>
        </p:nvGraphicFramePr>
        <p:xfrm>
          <a:off xmlns:a="http://schemas.openxmlformats.org/drawingml/2006/main" x="685800" y="1188720"/>
          <a:ext xmlns:a="http://schemas.openxmlformats.org/drawingml/2006/main" cx="10835640" cy="44805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8001000"/>
              </a:tblGrid>
              <a:tr h="560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Field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MindWeave-R project details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Student(s) / Roll number(s)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________________________________________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Programme / Department / Year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________________________________________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Faculty mentor / Co-mentor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________________________________________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Project title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Budgeted Contract Repair for Agent Workflows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Review number / 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________________________________________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Target output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☐ Research paper  ☐ Patent assessment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Research area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Reliable multi-agent workflow orchestration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4454EA7-9666-425E-B3B1-F0C3858E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897880"/>
            <a:ext cx="10515600" cy="359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A6978"/>
                </a:solidFill>
                <a:latin typeface="Aptos"/>
                <a:ea typeface="Aptos"/>
                <a:cs typeface="Aptos"/>
              </a:rPr>
              <a:t>Keep team, mentor, review date and institution fields editable for the review meeting.</a:t>
            </a:r>
          </a:p>
        </p:txBody>
      </p:sp>
    </p:spTree>
    <p:extLst>
      <p:ext uri="{BB962C8B-B14F-4D97-AF65-F5344CB8AC3E}">
        <p14:creationId xmlns:p14="http://schemas.microsoft.com/office/powerpoint/2010/main" val="16495389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5E55E13-7704-4599-8548-AC7D4596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9718B4E-E26B-4896-836F-8E8CCC7D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"/>
            <a:ext cx="106070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Problem, Objectives and Contribution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7496A20-F582-4DB5-83A8-50151303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758952"/>
            <a:ext cx="169164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008287"/>
                </a:solidFill>
                <a:latin typeface="Aptos"/>
                <a:ea typeface="Aptos"/>
                <a:cs typeface="Aptos"/>
              </a:rPr>
              <a:t>RESEARCH DESIGN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18B9033-C111-4845-BF36-7CE3791F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73952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0">
                <a:solidFill>
                  <a:srgbClr val="5A697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117BE55-501C-451C-B682-4555DB02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777240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A6978"/>
                </a:solidFill>
                <a:latin typeface="Aptos"/>
                <a:ea typeface="Aptos"/>
                <a:cs typeface="Aptos"/>
              </a:rPr>
              <a:t>MINDWEAVE-R RESEARCH &amp; INNOVATION REVIEW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F17B184-08D7-42F9-96EF-3F18E86D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43000"/>
            <a:ext cx="530352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9"/>
          </a:solidFill>
          <a:ln xmlns:a="http://schemas.openxmlformats.org/drawingml/2006/main">
            <a:solidFill>
              <a:srgbClr val="DC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A26E1BE-DC29-4D0A-A179-6224103D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4300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2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7219D5B-274F-4DAF-B9E5-4B8AF64F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289304"/>
            <a:ext cx="4937759" cy="405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Problem and motivation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A6FC680-A5B3-4E6F-B87D-1A323EFE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673352"/>
            <a:ext cx="4937759" cy="923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Agent workflow nodes exchange artifacts. A weak or unsafe artifact can fail a downstream requirement or continue without a clear recovery path.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4B13EEB-3621-4B31-95D9-6D6EC4AA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143000"/>
            <a:ext cx="530352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9"/>
          </a:solidFill>
          <a:ln xmlns:a="http://schemas.openxmlformats.org/drawingml/2006/main">
            <a:solidFill>
              <a:srgbClr val="DC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6118245-4361-44D6-9148-9457F0BE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14300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69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85951C1-B204-4784-B0FA-865602A8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289304"/>
            <a:ext cx="4937759" cy="405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Research gap to examine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7ACEBBB-D1DE-413F-B565-75A01FC8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673352"/>
            <a:ext cx="4937759" cy="923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Workflow planning and dynamic routing already have research. We will test whether explicit edge contracts can guide constrained repair after a handoff fails.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5CC7565-E8D3-452D-A72D-A7F66AE4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91840"/>
            <a:ext cx="530352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9"/>
          </a:solidFill>
          <a:ln xmlns:a="http://schemas.openxmlformats.org/drawingml/2006/main">
            <a:solidFill>
              <a:srgbClr val="DC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F1946B3-50C4-48E4-869F-2F329155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9184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6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E404A3E-5950-4779-A594-D9838CEE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438144"/>
            <a:ext cx="4937759" cy="405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Objectives and success measures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55A0F4C-8CDE-4C3C-9BE9-78997A79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822191"/>
            <a:ext cx="4937759" cy="923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Compare recovery rate, added cost, latency and privacy violations across matched injected failures and baseline policies.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D040CCC-5685-4F60-AE9F-FD6163CD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291840"/>
            <a:ext cx="530352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9"/>
          </a:solidFill>
          <a:ln xmlns:a="http://schemas.openxmlformats.org/drawingml/2006/main">
            <a:solidFill>
              <a:srgbClr val="DC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0610D52-3038-4748-96AF-C46647B5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29184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D5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3A6E4ED-61EA-4894-B8A3-3A99CC98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438144"/>
            <a:ext cx="4937759" cy="405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Expected contribution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7C671F2-0E55-4982-9A9C-92C45D67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822191"/>
            <a:ext cx="4937759" cy="1182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 tested repair-selection method, an auditable prototype trace and a reproducible evaluation. These contributions remain hypotheses until results support them.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AA756EB-516A-4BE7-9845-F7C963C3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715000"/>
            <a:ext cx="10698480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Review check: Is the claim narrow enough to test and distinct from prior workflow scheduling work?</a:t>
            </a:r>
          </a:p>
        </p:txBody>
      </p:sp>
    </p:spTree>
    <p:extLst>
      <p:ext uri="{BB962C8B-B14F-4D97-AF65-F5344CB8AC3E}">
        <p14:creationId xmlns:p14="http://schemas.microsoft.com/office/powerpoint/2010/main" val="20678664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E894C8-BE4E-4D34-BBAA-E03EA8A5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1B7A1AA-769F-4147-8027-A354DDB7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"/>
            <a:ext cx="106070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Related Work and Prior-Art Landscape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250E1CF-8371-487C-99E0-EA2F6E4F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758952"/>
            <a:ext cx="169164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008287"/>
                </a:solidFill>
                <a:latin typeface="Aptos"/>
                <a:ea typeface="Aptos"/>
                <a:cs typeface="Aptos"/>
              </a:rPr>
              <a:t>RELATED WORK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5117BF1-992D-4870-82DB-D4880F69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73952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0">
                <a:solidFill>
                  <a:srgbClr val="5A697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24C43E8-C33D-44F2-9E42-469B6CAB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777240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A6978"/>
                </a:solidFill>
                <a:latin typeface="Aptos"/>
                <a:ea typeface="Aptos"/>
                <a:cs typeface="Aptos"/>
              </a:rPr>
              <a:t>MINDWEAVE-R RESEARCH &amp; INNOVATION REVIEW</a:t>
            </a:r>
          </a:p>
        </p:txBody>
      </p:sp>
      <p:graphicFrame>
        <p:nvGraphicFramePr>
          <p:cNvPr id="7" name="Table 6">
            <a:extLst xmlns:a="http://schemas.openxmlformats.org/drawingml/2006/main">
              <a:ext uri="{FF2B5EF4-FFF2-40B4-BE49-F238E27FC236}">
                <a16:creationId xmlns:a16="http://schemas.microsoft.com/office/drawing/2014/main" id="{7B8BDF94-D2E1-46F9-B0F1-4D159871BA36}"/>
              </a:ext>
            </a:extLst>
          </p:cNvPr>
          <p:cNvGraphicFramePr/>
          <p:nvPr/>
        </p:nvGraphicFramePr>
        <p:xfrm>
          <a:off xmlns:a="http://schemas.openxmlformats.org/drawingml/2006/main" x="594360" y="1234440"/>
          <a:ext xmlns:a="http://schemas.openxmlformats.org/drawingml/2006/main" cx="10972800" cy="30175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743200"/>
                <a:gridCol w="2834640"/>
                <a:gridCol w="3337560"/>
              </a:tblGrid>
              <a:tr h="603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Source / work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Focus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Limit or distinction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MindWeave-R question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AutoGen (Wu et al., 2023)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Multi-agent conversation framework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General agent infrastructure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Test explicit runtime artifact contracts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FlowBench (Xiao et al., 2024)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Workflow-guided planning benchmark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Evaluates planning with workflow knowledge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Evaluate recovery after contract violations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WorfBench / WorfEval (ICLR 2025)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DAG workflow generation and evaluation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Focuses on generated workflow quality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Measure execution-time repair under constraints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LLM-as-Scheduler (ACL 2026)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Dynamic routing across workflows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Optimizes workflow choice and efficiency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Study repair after a failed handoff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B974562-9B9F-4935-8E67-9DDEEC7E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52120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9"/>
          </a:solidFill>
          <a:ln xmlns:a="http://schemas.openxmlformats.org/drawingml/2006/main">
            <a:solidFill>
              <a:srgbClr val="DC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91C7D00-9AA7-4873-9F93-F30EA9F2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73152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2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56313FD-0B83-4998-B396-D1F6FF88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718304"/>
            <a:ext cx="4846320" cy="405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Search record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9A3291B-D7CD-4B36-AA3C-8784056D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102352"/>
            <a:ext cx="4846320" cy="573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Use ACL Anthology, OpenReview and arXiv for papers. Record query, date and inclusion criteria.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87A35CB-03E1-4C5B-A959-C3FC0977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0"/>
            <a:ext cx="52120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9"/>
          </a:solidFill>
          <a:ln xmlns:a="http://schemas.openxmlformats.org/drawingml/2006/main">
            <a:solidFill>
              <a:srgbClr val="DC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5A37E65-DBB2-44D1-B567-40C33BE4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572000"/>
            <a:ext cx="73152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6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B6211F3-2BDD-4966-A605-CF92E26A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4718304"/>
            <a:ext cx="4846320" cy="405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Comparison focus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84577D0-4439-4778-B826-79CD99E5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5102352"/>
            <a:ext cx="4846320" cy="573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Compare the task, failure point, repair decision, constraints and evaluation, not just system names.</a:t>
            </a:r>
          </a:p>
        </p:txBody>
      </p:sp>
    </p:spTree>
    <p:extLst>
      <p:ext uri="{BB962C8B-B14F-4D97-AF65-F5344CB8AC3E}">
        <p14:creationId xmlns:p14="http://schemas.microsoft.com/office/powerpoint/2010/main" val="16118179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A7FEA41-C413-4417-982F-DF385EF7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6B70253-B3EA-4A68-BE8E-B33EBF07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"/>
            <a:ext cx="106070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Method, Prototype and Work Completed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F66CAF3-7F19-4140-BE08-E1E45DE1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758952"/>
            <a:ext cx="169164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008287"/>
                </a:solidFill>
                <a:latin typeface="Aptos"/>
                <a:ea typeface="Aptos"/>
                <a:cs typeface="Aptos"/>
              </a:rPr>
              <a:t>SYSTEM STATUS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5720DD5-D8A4-47E6-9C2F-855DC21E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73952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0">
                <a:solidFill>
                  <a:srgbClr val="5A697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8810611-E7C7-4E58-AEA1-A7A41BED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777240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A6978"/>
                </a:solidFill>
                <a:latin typeface="Aptos"/>
                <a:ea typeface="Aptos"/>
                <a:cs typeface="Aptos"/>
              </a:rPr>
              <a:t>MINDWEAVE-R RESEARCH &amp; INNOVATION REVIEW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8FAAEBBB-DDD2-43D3-A235-5E5E1440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43000"/>
            <a:ext cx="352044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9"/>
          </a:solidFill>
          <a:ln xmlns:a="http://schemas.openxmlformats.org/drawingml/2006/main">
            <a:solidFill>
              <a:srgbClr val="DC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2227C6B-8FFE-4383-B762-E2A5F402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4300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2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FBB3C9D-ABD8-4ACB-AF31-D72B627C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289304"/>
            <a:ext cx="3154680" cy="405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Method and architecture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57DEDDD-608A-44B8-AC31-65D8A3E2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673352"/>
            <a:ext cx="3154680" cy="1289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 NetworkX DAG passes typed artifacts. Edge checks cover fields, provenance, confidence, privacy, freshness and budget. Failed contracts can invoke a scored repair candidate.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66E2B1D-BD27-4F5E-AFD5-FBEAF6BC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143000"/>
            <a:ext cx="352044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9"/>
          </a:solidFill>
          <a:ln xmlns:a="http://schemas.openxmlformats.org/drawingml/2006/main">
            <a:solidFill>
              <a:srgbClr val="DC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26BC649-24E4-416A-9B1E-430D763E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14300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69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0E7CB49-D34B-437D-A69E-27FE4732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289304"/>
            <a:ext cx="3154680" cy="405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Prototype implementation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B335CE3-FD43-4B76-9DC7-5CD5B64D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673352"/>
            <a:ext cx="3154680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React and React Flow canvas; FastAPI, Pydantic and NetworkX backend; SQLite persistence; deterministic demo mode.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80653B0-5020-41EC-89D6-31E228C4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143000"/>
            <a:ext cx="352044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9"/>
          </a:solidFill>
          <a:ln xmlns:a="http://schemas.openxmlformats.org/drawingml/2006/main">
            <a:solidFill>
              <a:srgbClr val="DC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FF52F41-3D97-4EE8-B02C-64C78988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14300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6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EB2DBA1-9FBA-412A-91C7-B519851E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1289304"/>
            <a:ext cx="3154680" cy="405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Work present in the project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42A2AA7-6D8B-4FE0-B08F-B807A117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1673352"/>
            <a:ext cx="3154680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The repository contains backend tests, candidate repair logic, hash-linked certificate records and a 50-case synthetic fault script.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6455518-6DF0-4680-8BEE-F75BD2F7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74720"/>
            <a:ext cx="23774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Evidence limits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1EE36F8-7402-469A-A8D6-974DE7D4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86200"/>
            <a:ext cx="10789920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70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t>7 backend tests are present; verify the current run before review.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70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t>The checked-in CSV contains 50 deterministic injected cases.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70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t>Repair operators currently transform demo artifacts rather than run full repair subgraphs.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70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t>No external LLM benchmark or human quality assessment is included.</a:t>
            </a:r>
          </a:p>
        </p:txBody>
      </p:sp>
    </p:spTree>
    <p:extLst>
      <p:ext uri="{BB962C8B-B14F-4D97-AF65-F5344CB8AC3E}">
        <p14:creationId xmlns:p14="http://schemas.microsoft.com/office/powerpoint/2010/main" val="15027598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3985D60-EE66-4799-8164-AF25C91C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A681192-5412-4E96-B105-E5F79B99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"/>
            <a:ext cx="106070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Pilot Results, Validation and Limitations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FB8436E-863B-4471-A4B4-CD8D3D71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758952"/>
            <a:ext cx="169164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008287"/>
                </a:solidFill>
                <a:latin typeface="Aptos"/>
                <a:ea typeface="Aptos"/>
                <a:cs typeface="Aptos"/>
              </a:rPr>
              <a:t>PILOT EVIDENCE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E56E671-4011-415C-BE9E-DEE80128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73952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0">
                <a:solidFill>
                  <a:srgbClr val="5A697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133D9E2-D6D5-4530-915F-7E5D3343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777240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A6978"/>
                </a:solidFill>
                <a:latin typeface="Aptos"/>
                <a:ea typeface="Aptos"/>
                <a:cs typeface="Aptos"/>
              </a:rPr>
              <a:t>MINDWEAVE-R RESEARCH &amp; INNOVATION REVIEW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8BB01F3-E05C-4E6A-BEB0-E5C98AD9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43000"/>
            <a:ext cx="352044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9"/>
          </a:solidFill>
          <a:ln xmlns:a="http://schemas.openxmlformats.org/drawingml/2006/main">
            <a:solidFill>
              <a:srgbClr val="DC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3EDFF9B-3F01-43AF-BD2A-58AD05AC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43000"/>
            <a:ext cx="73152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2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B8864BB-32A2-4527-BCC2-846E99D7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289304"/>
            <a:ext cx="3154680" cy="405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Existing pilot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2831D33-8A90-42B5-83B9-32C1D771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673352"/>
            <a:ext cx="3154680" cy="1121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The CSV records 50 of 50 synthetic cases as repaired across six injected failure types. Treat this only as a deterministic smoke test.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BD711DA5-58BA-49DA-BFDA-D6AA10FF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143000"/>
            <a:ext cx="352044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9"/>
          </a:solidFill>
          <a:ln xmlns:a="http://schemas.openxmlformats.org/drawingml/2006/main">
            <a:solidFill>
              <a:srgbClr val="DC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21F0588-E013-4849-B8C0-41CE5EA3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143000"/>
            <a:ext cx="73152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69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91CC79F-1AF2-4B99-B7D3-150716F8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289304"/>
            <a:ext cx="3154680" cy="405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Baseline comparison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C00056A-8E73-4440-B254-64A7C721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673352"/>
            <a:ext cx="3154680" cy="1121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No matched comparison against stop, retry, fixed fallback or cheapest-candidate selection has been run.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FAEA6129-837C-497B-9DF8-54E18759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143000"/>
            <a:ext cx="352044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9"/>
          </a:solidFill>
          <a:ln xmlns:a="http://schemas.openxmlformats.org/drawingml/2006/main">
            <a:solidFill>
              <a:srgbClr val="DC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6BF1B81-6C1F-4E47-97E2-EC1D4032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143000"/>
            <a:ext cx="73152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6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BA4BBAD-41B9-494F-9123-A7FFBD57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1289304"/>
            <a:ext cx="3154680" cy="405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Known limitations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E9E9092-97E6-4559-8C65-36AF0060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1673352"/>
            <a:ext cx="3154680" cy="1121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Demo artifacts and repair operations are synthetic. Real token cost, latency, privacy risk and output quality remain unmeasured.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611F089-C030-4888-931E-305BF7E8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03320"/>
            <a:ext cx="1051560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Report case counts, exact fault generation, configuration and raw traces. Do not present the pilot as a performance gain.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11F133C-CD7A-41E0-B34D-2F6E3CEC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26280"/>
            <a:ext cx="10515600" cy="405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For real-model trials, add task-specific quality checks and blinded review alongside mechanical contract checks.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0C1C811-36DF-4042-A187-99C76CC3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86400"/>
            <a:ext cx="10515600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008287"/>
                </a:solidFill>
                <a:latin typeface="Aptos"/>
                <a:ea typeface="Aptos"/>
                <a:cs typeface="Aptos"/>
              </a:rPr>
              <a:t>Panel prompt: Can another researcher reproduce each failure and verify the reported recovery from saved data?</a:t>
            </a:r>
          </a:p>
        </p:txBody>
      </p:sp>
    </p:spTree>
    <p:extLst>
      <p:ext uri="{BB962C8B-B14F-4D97-AF65-F5344CB8AC3E}">
        <p14:creationId xmlns:p14="http://schemas.microsoft.com/office/powerpoint/2010/main" val="783422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431620D-1F0E-4374-8FB4-3517E699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8C2DD29-B268-4494-8E7A-4A056606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"/>
            <a:ext cx="106070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Paper Track: Draft Readiness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DC5B4AF-950C-4A88-ADAE-3A2F6B42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758952"/>
            <a:ext cx="169164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008287"/>
                </a:solidFill>
                <a:latin typeface="Aptos"/>
                <a:ea typeface="Aptos"/>
                <a:cs typeface="Aptos"/>
              </a:rPr>
              <a:t>RESEARCH PAPER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2AD86F2-4342-4345-9457-2B9C47D0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73952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0">
                <a:solidFill>
                  <a:srgbClr val="5A697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CF35A5E-7B1E-4091-B5ED-B1C079CB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777240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A6978"/>
                </a:solidFill>
                <a:latin typeface="Aptos"/>
                <a:ea typeface="Aptos"/>
                <a:cs typeface="Aptos"/>
              </a:rPr>
              <a:t>MINDWEAVE-R RESEARCH &amp; INNOVATION REVIEW</a:t>
            </a:r>
          </a:p>
        </p:txBody>
      </p:sp>
      <p:graphicFrame>
        <p:nvGraphicFramePr>
          <p:cNvPr id="7" name="Table 6">
            <a:extLst xmlns:a="http://schemas.openxmlformats.org/drawingml/2006/main">
              <a:ext uri="{FF2B5EF4-FFF2-40B4-BE49-F238E27FC236}">
                <a16:creationId xmlns:a16="http://schemas.microsoft.com/office/drawing/2014/main" id="{984DA780-A383-488C-B308-69F8678D5793}"/>
              </a:ext>
            </a:extLst>
          </p:cNvPr>
          <p:cNvGraphicFramePr/>
          <p:nvPr/>
        </p:nvGraphicFramePr>
        <p:xfrm>
          <a:off xmlns:a="http://schemas.openxmlformats.org/drawingml/2006/main" x="594360" y="1143000"/>
          <a:ext xmlns:a="http://schemas.openxmlformats.org/drawingml/2006/main" cx="10972800" cy="43891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3291840"/>
                <a:gridCol w="4846320"/>
              </a:tblGrid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Section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Current status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Evidence / next work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Title, abstract, keywords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Working title only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Write after results are available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Introduction and research gap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Outline planned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Narrow claims using related work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Related work and citations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Initial sources identified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Build dated literature matrix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Method and reproducibility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Prototype exists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Specify operators, weights and protocol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Results and limitations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Synthetic pilot only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Run baselines and paired trials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Conclusion and future work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Not started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Write from measured findings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References and formatting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Not started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Select venue and follow its guide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B28B0D2-CAAF-43C2-8A74-8DEC1290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806440"/>
            <a:ext cx="1088136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8287"/>
                </a:solidFill>
                <a:latin typeface="Aptos"/>
                <a:ea typeface="Aptos"/>
                <a:cs typeface="Aptos"/>
              </a:rPr>
              <a:t>Paper claims must match the implemented method; report negative results, uncertainty and limitations.</a:t>
            </a:r>
          </a:p>
        </p:txBody>
      </p:sp>
    </p:spTree>
    <p:extLst>
      <p:ext uri="{BB962C8B-B14F-4D97-AF65-F5344CB8AC3E}">
        <p14:creationId xmlns:p14="http://schemas.microsoft.com/office/powerpoint/2010/main" val="4907997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516D002-2E82-42DB-AC45-18C6B601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A084DFF-3F36-4533-B968-3804372B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"/>
            <a:ext cx="106070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Paper Track: Venue and Submission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05226C8-E8C8-4C4F-8734-69585541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758952"/>
            <a:ext cx="169164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008287"/>
                </a:solidFill>
                <a:latin typeface="Aptos"/>
                <a:ea typeface="Aptos"/>
                <a:cs typeface="Aptos"/>
              </a:rPr>
              <a:t>RESEARCH PAPER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E2F2BA6-B5E3-46E5-9021-BDAF9FB4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73952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0">
                <a:solidFill>
                  <a:srgbClr val="5A697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FCED05E-F72D-42FC-B6FF-11B4F810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777240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A6978"/>
                </a:solidFill>
                <a:latin typeface="Aptos"/>
                <a:ea typeface="Aptos"/>
                <a:cs typeface="Aptos"/>
              </a:rPr>
              <a:t>MINDWEAVE-R RESEARCH &amp; INNOVATION REVIEW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B4A9A22-8FA1-4DF7-9603-43E9F1C0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43000"/>
            <a:ext cx="530352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9"/>
          </a:solidFill>
          <a:ln xmlns:a="http://schemas.openxmlformats.org/drawingml/2006/main">
            <a:solidFill>
              <a:srgbClr val="DC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F00339B-2E09-42E4-B439-D27855EB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4300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2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3B26BC0-548E-4AC1-9291-3E4CB8A6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289304"/>
            <a:ext cx="4937759" cy="405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Target venue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5AC3798-4203-4893-91E3-A8EBB4F6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673352"/>
            <a:ext cx="4937759" cy="832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Journal / conference: To be selected</a:t>
            </a:r>
          </a:p>
          <a:p xmlns:a="http://schemas.openxmlformats.org/drawingml/2006/main">
            <a:pPr algn="l">
              <a:buNone/>
            </a:pPr>
            <a:r>
              <a:rPr sz="15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Check scope, author rules and indexing on official pages.</a:t>
            </a:r>
          </a:p>
          <a:p xmlns:a="http://schemas.openxmlformats.org/drawingml/2006/main">
            <a:pPr algn="l">
              <a:buNone/>
            </a:pPr>
            <a:r>
              <a:rPr sz="15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No submission has been made.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D657108-D02D-47C3-9580-26D6F72F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143000"/>
            <a:ext cx="530352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9"/>
          </a:solidFill>
          <a:ln xmlns:a="http://schemas.openxmlformats.org/drawingml/2006/main">
            <a:solidFill>
              <a:srgbClr val="DC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F828BFF-FB3E-4138-BD79-B98E9670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14300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69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88C9CF7-23E1-4D1C-8994-DBD0944B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289304"/>
            <a:ext cx="4937759" cy="405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Submission status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96BDACF-DD69-4F35-9F4E-C73FFDDF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673352"/>
            <a:ext cx="4937759" cy="832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☐ Planning  ☐ Drafting  ☐ Mentor review</a:t>
            </a:r>
          </a:p>
          <a:p xmlns:a="http://schemas.openxmlformats.org/drawingml/2006/main">
            <a:pPr algn="l">
              <a:buNone/>
            </a:pPr>
            <a:r>
              <a:rPr sz="15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☐ Submitted  ☐ Revision  ☐ Accepted</a:t>
            </a:r>
          </a:p>
          <a:p xmlns:a="http://schemas.openxmlformats.org/drawingml/2006/main">
            <a:pPr algn="l">
              <a:buNone/>
            </a:pPr>
            <a:r>
              <a:rPr sz="15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Submission date / ID: Not applicable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4E97C61-F222-4E68-A312-3555280F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29000"/>
            <a:ext cx="29260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Before submission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52CD7E0-EE76-476B-AB07-1B2D3A29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40480"/>
            <a:ext cx="10698480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rIns="73152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  <a:defRPr sz="170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t>Complete the controlled study and document the analysis plan.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70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t>Agree authorship and contributions with the supervisor.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70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t>Check the selected venue’s current policies and format.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70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t>Do not describe a planned result as a finding.</a:t>
            </a:r>
          </a:p>
        </p:txBody>
      </p:sp>
    </p:spTree>
    <p:extLst>
      <p:ext uri="{BB962C8B-B14F-4D97-AF65-F5344CB8AC3E}">
        <p14:creationId xmlns:p14="http://schemas.microsoft.com/office/powerpoint/2010/main" val="8331077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9EAB114-A14F-485D-93DD-B8C7CBBF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EF60C12-6C9A-44CB-8A9C-CEA9B80F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"/>
            <a:ext cx="106070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Patent Track: Invention Concept and Novelty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D66EC62-1D56-4D74-BFF1-E830E32A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758952"/>
            <a:ext cx="169164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008287"/>
                </a:solidFill>
                <a:latin typeface="Aptos"/>
                <a:ea typeface="Aptos"/>
                <a:cs typeface="Aptos"/>
              </a:rPr>
              <a:t>IP REVIEW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033668B-5294-47BB-969F-FD453152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73952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0">
                <a:solidFill>
                  <a:srgbClr val="5A697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3D3F914-2F23-4FDB-8937-E2BA1483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777240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A6978"/>
                </a:solidFill>
                <a:latin typeface="Aptos"/>
                <a:ea typeface="Aptos"/>
                <a:cs typeface="Aptos"/>
              </a:rPr>
              <a:t>MINDWEAVE-R RESEARCH &amp; INNOVATION REVIEW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90451DE-B8FD-4CBA-AD91-7D38C88C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43000"/>
            <a:ext cx="530352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9"/>
          </a:solidFill>
          <a:ln xmlns:a="http://schemas.openxmlformats.org/drawingml/2006/main">
            <a:solidFill>
              <a:srgbClr val="DC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60EAA96-953A-45FB-80C8-DB41FD9C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4300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2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D55FEDC-2397-4974-A7C6-7DB527B1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289304"/>
            <a:ext cx="4937759" cy="405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Invention concept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184D4A9-3705-43EF-9F1E-22C0FA9A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673352"/>
            <a:ext cx="4937759" cy="1289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Title: Budgeted Contract Repair for Agent Workflows</a:t>
            </a:r>
          </a:p>
          <a:p xmlns:a="http://schemas.openxmlformats.org/drawingml/2006/main">
            <a:pPr algn="l">
              <a:buNone/>
            </a:pPr>
            <a:r>
              <a:rPr sz="15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Problem: Failed artifact contracts interrupt reliable DAG execution.</a:t>
            </a:r>
          </a:p>
          <a:p xmlns:a="http://schemas.openxmlformats.org/drawingml/2006/main">
            <a:pPr algn="l">
              <a:buNone/>
            </a:pPr>
            <a:r>
              <a:rPr sz="15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Mechanism: Select and verify a feasible repair under constraints.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9A4BC68-EEC1-4E9B-AD74-5029187A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143000"/>
            <a:ext cx="5303520" cy="1828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9"/>
          </a:solidFill>
          <a:ln xmlns:a="http://schemas.openxmlformats.org/drawingml/2006/main">
            <a:solidFill>
              <a:srgbClr val="DC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0071CDC-18BD-4A11-AF80-D5B42143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14300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6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5FC67CD-8415-4DC5-A813-7CE66D79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289304"/>
            <a:ext cx="4937759" cy="405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Potential technical features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F5F67BA-8617-48CA-8D14-883E6B09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673352"/>
            <a:ext cx="4937759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Candidate repairs are scored by cost, latency, privacy risk and residual failure risk. A successful repair is checked before downstream execution and recorded with trace hashes. Novelty is unproven.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CEE2892-E40D-48DE-937A-EDE1FA0E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29000"/>
            <a:ext cx="2926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Prior-art search record</a:t>
            </a:r>
          </a:p>
        </p:txBody>
      </p:sp>
      <p:graphicFrame>
        <p:nvGraphicFramePr>
          <p:cNvPr id="16" name="Table 15">
            <a:extLst xmlns:a="http://schemas.openxmlformats.org/drawingml/2006/main">
              <a:ext uri="{FF2B5EF4-FFF2-40B4-BE49-F238E27FC236}">
                <a16:creationId xmlns:a16="http://schemas.microsoft.com/office/drawing/2014/main" id="{AA499343-0DA5-4862-8834-2F1305D52845}"/>
              </a:ext>
            </a:extLst>
          </p:cNvPr>
          <p:cNvGraphicFramePr/>
          <p:nvPr/>
        </p:nvGraphicFramePr>
        <p:xfrm>
          <a:off xmlns:a="http://schemas.openxmlformats.org/drawingml/2006/main" x="685800" y="3840480"/>
          <a:ext xmlns:a="http://schemas.openxmlformats.org/drawingml/2006/main" cx="10835640" cy="16002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200400"/>
                <a:gridCol w="5074920"/>
              </a:tblGrid>
              <a:tr h="400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Database / source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Search terms / status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Closest document and difference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Google Patents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agent workflow repair; not searched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Pending search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WIPO PATENTSCOPE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budgeted repair; not searched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Pending search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Espacenet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repair certificate; not searched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Pending search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3192CB5-A2E1-4EF4-A868-A8C56EAD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15000"/>
            <a:ext cx="10698480" cy="359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08287"/>
                </a:solidFill>
                <a:latin typeface="Aptos"/>
                <a:ea typeface="Aptos"/>
                <a:cs typeface="Aptos"/>
              </a:rPr>
              <a:t>No patentability conclusion has been made. A patent professional must assess novelty, inventive step, eligibility and filing strategy.</a:t>
            </a:r>
          </a:p>
        </p:txBody>
      </p:sp>
    </p:spTree>
    <p:extLst>
      <p:ext uri="{BB962C8B-B14F-4D97-AF65-F5344CB8AC3E}">
        <p14:creationId xmlns:p14="http://schemas.microsoft.com/office/powerpoint/2010/main" val="10935710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CF573BD-FDD1-46D6-84B5-E3058E0B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EF6B31F-AE31-4627-B095-E5B005F1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"/>
            <a:ext cx="106070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Patent Track: Disclosure and Filing Readiness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1373BB3-842D-4BE8-9ECD-CB6A5B32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758952"/>
            <a:ext cx="169164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008287"/>
                </a:solidFill>
                <a:latin typeface="Aptos"/>
                <a:ea typeface="Aptos"/>
                <a:cs typeface="Aptos"/>
              </a:rPr>
              <a:t>IP REVIEW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D68B307-E9A2-4841-99F9-DD060937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73952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0">
                <a:solidFill>
                  <a:srgbClr val="5A697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4207FA1-A1F0-463C-8141-9A2CCF7F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777240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A6978"/>
                </a:solidFill>
                <a:latin typeface="Aptos"/>
                <a:ea typeface="Aptos"/>
                <a:cs typeface="Aptos"/>
              </a:rPr>
              <a:t>MINDWEAVE-R RESEARCH &amp; INNOVATION REVIEW</a:t>
            </a:r>
          </a:p>
        </p:txBody>
      </p:sp>
      <p:graphicFrame>
        <p:nvGraphicFramePr>
          <p:cNvPr id="7" name="Table 6">
            <a:extLst xmlns:a="http://schemas.openxmlformats.org/drawingml/2006/main">
              <a:ext uri="{FF2B5EF4-FFF2-40B4-BE49-F238E27FC236}">
                <a16:creationId xmlns:a16="http://schemas.microsoft.com/office/drawing/2014/main" id="{7FDEB84A-85EC-4C1D-B2F1-3FFCC525969E}"/>
              </a:ext>
            </a:extLst>
          </p:cNvPr>
          <p:cNvGraphicFramePr/>
          <p:nvPr/>
        </p:nvGraphicFramePr>
        <p:xfrm>
          <a:off xmlns:a="http://schemas.openxmlformats.org/drawingml/2006/main" x="594360" y="1188720"/>
          <a:ext xmlns:a="http://schemas.openxmlformats.org/drawingml/2006/main" cx="10972800" cy="39319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2743200"/>
                <a:gridCol w="4297680"/>
              </a:tblGrid>
              <a:tr h="561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Deliverable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Current status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Evidence / next action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Invention disclosure to institute IPR cell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☐ No ☐ In progress ☐ Yes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Not submitted; discuss before disclosure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Inventor details and ownership reviewed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☐ No ☐ In progress ☐ Yes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Confirm contributors with institute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Prototype / proof of concept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☐ No ☐ In progress ☐ Yes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MVP exists; repair operators are demo transforms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Specification and claims drafted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☐ No ☐ In progress ☐ Yes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Not drafted; novelty not assessed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Internal / professional review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☐ No ☐ In progress ☐ Yes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Consult IPR office or patent professional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Application filed and receipt recorded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☐ No ☐ In progress ☐ Yes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No application filed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67D6B38-951C-478E-AD05-6CEB99AA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94960"/>
            <a:ext cx="5212080" cy="731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9"/>
          </a:solidFill>
          <a:ln xmlns:a="http://schemas.openxmlformats.org/drawingml/2006/main">
            <a:solidFill>
              <a:srgbClr val="DC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FC8C085-511E-4474-A7B4-443C6B96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94960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6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8562DD7-5B2D-421C-8D65-FF2F5271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541264"/>
            <a:ext cx="4846320" cy="405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Disclosure timing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A6DF616-BC9E-4590-886B-B19969B0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925312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Ask institute IPR before public disclosure.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6E69373D-8173-40A7-B9D8-4ADD70C2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394960"/>
            <a:ext cx="5212080" cy="731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9"/>
          </a:solidFill>
          <a:ln xmlns:a="http://schemas.openxmlformats.org/drawingml/2006/main">
            <a:solidFill>
              <a:srgbClr val="DC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1E6604E-DD3B-4E24-A905-B875B797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394960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2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74E42F4-5658-463E-A480-A098AA75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5541264"/>
            <a:ext cx="4846320" cy="405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Status discipline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0E3F75E-2379-450E-A6D4-9FA2D83B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5925312"/>
            <a:ext cx="4846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Concept ≠ filed application ≠ granted patent.</a:t>
            </a:r>
          </a:p>
        </p:txBody>
      </p:sp>
    </p:spTree>
    <p:extLst>
      <p:ext uri="{BB962C8B-B14F-4D97-AF65-F5344CB8AC3E}">
        <p14:creationId xmlns:p14="http://schemas.microsoft.com/office/powerpoint/2010/main" val="3602252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1B664EA-FF15-4AFD-8EF5-759C52F6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54D0098-A2B9-44C3-BB37-D24F91C0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"/>
            <a:ext cx="106070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Milestones: Planned and Current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12F07CA-33B7-4C71-89F5-B5679CAE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758952"/>
            <a:ext cx="169164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008287"/>
                </a:solidFill>
                <a:latin typeface="Aptos"/>
                <a:ea typeface="Aptos"/>
                <a:cs typeface="Aptos"/>
              </a:rPr>
              <a:t>PROGRESS CONTROL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B6456BF-C4CC-447C-B856-01ED0E0F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73952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0">
                <a:solidFill>
                  <a:srgbClr val="5A697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3D4FCD0-C8A9-4E7E-BFA7-A533FD8B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777240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A6978"/>
                </a:solidFill>
                <a:latin typeface="Aptos"/>
                <a:ea typeface="Aptos"/>
                <a:cs typeface="Aptos"/>
              </a:rPr>
              <a:t>MINDWEAVE-R RESEARCH &amp; INNOVATION REVIEW</a:t>
            </a:r>
          </a:p>
        </p:txBody>
      </p:sp>
      <p:graphicFrame>
        <p:nvGraphicFramePr>
          <p:cNvPr id="7" name="Table 6">
            <a:extLst xmlns:a="http://schemas.openxmlformats.org/drawingml/2006/main">
              <a:ext uri="{FF2B5EF4-FFF2-40B4-BE49-F238E27FC236}">
                <a16:creationId xmlns:a16="http://schemas.microsoft.com/office/drawing/2014/main" id="{D99A3BC1-A88C-4467-85EE-8074BFAB4D5C}"/>
              </a:ext>
            </a:extLst>
          </p:cNvPr>
          <p:cNvGraphicFramePr/>
          <p:nvPr/>
        </p:nvGraphicFramePr>
        <p:xfrm>
          <a:off xmlns:a="http://schemas.openxmlformats.org/drawingml/2006/main" x="502920" y="1234440"/>
          <a:ext xmlns:a="http://schemas.openxmlformats.org/drawingml/2006/main" cx="11155680" cy="42976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1645920"/>
                <a:gridCol w="1645920"/>
                <a:gridCol w="1645920"/>
                <a:gridCol w="3794760"/>
              </a:tblGrid>
              <a:tr h="613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Milestone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Planned date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Current date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Status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Evidence / next work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Related-work and patent search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In progress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Initial paper sources; patent search pending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Executable repair operations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Prototype gap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Replace demo artifact transforms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Benchmark and baseline design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Planned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Stop, retry, fixed fallback, planner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Paired evaluation and analysis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Not started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Recovery, cost, latency, privacy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Paper draft and mentor review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Not started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Draft after controlled results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IPR review and filing decision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Not started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Institute advice before disclosure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C5F7872-810C-4076-B3FE-96C019D7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80644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For each delayed milestone, record the cause, recovery action, owner and revised deadline.</a:t>
            </a:r>
          </a:p>
        </p:txBody>
      </p:sp>
    </p:spTree>
    <p:extLst>
      <p:ext uri="{BB962C8B-B14F-4D97-AF65-F5344CB8AC3E}">
        <p14:creationId xmlns:p14="http://schemas.microsoft.com/office/powerpoint/2010/main" val="5371442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2A629BE-CE67-42FB-9D77-8E4B4573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D27C9C7-3780-42E3-9E3C-E8CE11E7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"/>
            <a:ext cx="106070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Risks and Support Required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20203CA-C0E4-4EE4-BD44-277F4B02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758952"/>
            <a:ext cx="169164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008287"/>
                </a:solidFill>
                <a:latin typeface="Aptos"/>
                <a:ea typeface="Aptos"/>
                <a:cs typeface="Aptos"/>
              </a:rPr>
              <a:t>PROGRESS CONTROL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F57D5A3-A0A8-40F6-8CBA-D0E81D2F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73952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0">
                <a:solidFill>
                  <a:srgbClr val="5A697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F301BCD-522F-4845-85C3-48D42552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777240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A6978"/>
                </a:solidFill>
                <a:latin typeface="Aptos"/>
                <a:ea typeface="Aptos"/>
                <a:cs typeface="Aptos"/>
              </a:rPr>
              <a:t>MINDWEAVE-R RESEARCH &amp; INNOVATION REVIEW</a:t>
            </a:r>
          </a:p>
        </p:txBody>
      </p:sp>
      <p:graphicFrame>
        <p:nvGraphicFramePr>
          <p:cNvPr id="7" name="Table 6">
            <a:extLst xmlns:a="http://schemas.openxmlformats.org/drawingml/2006/main">
              <a:ext uri="{FF2B5EF4-FFF2-40B4-BE49-F238E27FC236}">
                <a16:creationId xmlns:a16="http://schemas.microsoft.com/office/drawing/2014/main" id="{A435B7D4-CF66-43AC-BDD2-65A42387255D}"/>
              </a:ext>
            </a:extLst>
          </p:cNvPr>
          <p:cNvGraphicFramePr/>
          <p:nvPr/>
        </p:nvGraphicFramePr>
        <p:xfrm>
          <a:off xmlns:a="http://schemas.openxmlformats.org/drawingml/2006/main" x="594360" y="1280160"/>
          <a:ext xmlns:a="http://schemas.openxmlformats.org/drawingml/2006/main" cx="10972800" cy="29260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  <a:gridCol w="3657600"/>
                <a:gridCol w="1463040"/>
                <a:gridCol w="1645920"/>
              </a:tblGrid>
              <a:tr h="731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Issue / risk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Impact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Support / mitigation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Owner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Due date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Synthetic repairs inflate success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Invalid research claim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Implement real repair operators and negative cases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No matched baselines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Cannot attribute improvement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Use paired cases and fixed configurations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Public disclosure before IP advice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May affect filing options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Contact institute IPR office before submission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4930BDE-067C-42BE-B606-66D27658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63440"/>
            <a:ext cx="52120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9"/>
          </a:solidFill>
          <a:ln xmlns:a="http://schemas.openxmlformats.org/drawingml/2006/main">
            <a:solidFill>
              <a:srgbClr val="DC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16305A4-98B1-4835-A5AB-9854AD2E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63440"/>
            <a:ext cx="73152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2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D1BD10F-9EF4-49A7-A1A5-BE7B50E1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809744"/>
            <a:ext cx="4846320" cy="405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Support needed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EA30027-6223-43A2-A664-3E476C68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193792"/>
            <a:ext cx="4846320" cy="573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Supervisor advice on methods, statistics, local models and institute IP guidance.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BEA22CC7-0C1C-42D1-9BA2-C6CF6131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663440"/>
            <a:ext cx="52120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9"/>
          </a:solidFill>
          <a:ln xmlns:a="http://schemas.openxmlformats.org/drawingml/2006/main">
            <a:solidFill>
              <a:srgbClr val="DC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27A6875-840D-4D7F-BF73-CCCBF925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663440"/>
            <a:ext cx="73152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6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BB214A6-0CF1-4A35-AA91-329F4DCD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4809744"/>
            <a:ext cx="4846320" cy="405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Escalation points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FBEEDEE-34E5-4F7F-B13B-E01802E1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5193792"/>
            <a:ext cx="4846320" cy="573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Resolve repair gaps, benchmark design, authorship and IP disclosure timing.</a:t>
            </a:r>
          </a:p>
        </p:txBody>
      </p:sp>
    </p:spTree>
    <p:extLst>
      <p:ext uri="{BB962C8B-B14F-4D97-AF65-F5344CB8AC3E}">
        <p14:creationId xmlns:p14="http://schemas.microsoft.com/office/powerpoint/2010/main" val="407814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D398B0-680D-48CD-9190-083796FC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DFC27D9-DEA4-415E-A234-54BACBBE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"/>
            <a:ext cx="106070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Proposed Review Rubric: 100 Marks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B42F4C1-D31B-460B-BAFA-49025740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758952"/>
            <a:ext cx="169164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008287"/>
                </a:solidFill>
                <a:latin typeface="Aptos"/>
                <a:ea typeface="Aptos"/>
                <a:cs typeface="Aptos"/>
              </a:rPr>
              <a:t>PANEL ASSESSMENT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131CFC6-3BA8-49D0-A2CD-82DD481B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73952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0">
                <a:solidFill>
                  <a:srgbClr val="5A697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1007D3D-8583-48B4-9D71-DAF3A16F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777240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A6978"/>
                </a:solidFill>
                <a:latin typeface="Aptos"/>
                <a:ea typeface="Aptos"/>
                <a:cs typeface="Aptos"/>
              </a:rPr>
              <a:t>MINDWEAVE-R RESEARCH &amp; INNOVATION REVIEW</a:t>
            </a:r>
          </a:p>
        </p:txBody>
      </p:sp>
      <p:graphicFrame>
        <p:nvGraphicFramePr>
          <p:cNvPr id="7" name="Table 6">
            <a:extLst xmlns:a="http://schemas.openxmlformats.org/drawingml/2006/main">
              <a:ext uri="{FF2B5EF4-FFF2-40B4-BE49-F238E27FC236}">
                <a16:creationId xmlns:a16="http://schemas.microsoft.com/office/drawing/2014/main" id="{5A389701-1147-496C-8CE2-4A0A94288F61}"/>
              </a:ext>
            </a:extLst>
          </p:cNvPr>
          <p:cNvGraphicFramePr/>
          <p:nvPr/>
        </p:nvGraphicFramePr>
        <p:xfrm>
          <a:off xmlns:a="http://schemas.openxmlformats.org/drawingml/2006/main" x="822960" y="1325880"/>
          <a:ext xmlns:a="http://schemas.openxmlformats.org/drawingml/2006/main" cx="10515600" cy="32918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2697480"/>
                <a:gridCol w="2697480"/>
              </a:tblGrid>
              <a:tr h="470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Criterion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Research paper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Patent assessment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Problem and related-work / prior-art analysis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15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15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Contribution and technical mechanism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20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25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Method and reproducibility / feasibility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25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20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Evaluation / prototype validation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25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20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Writing / disclosure readiness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15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20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TOTAL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100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100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045F5A5-AF06-43EB-BF37-5DD4683E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83480"/>
            <a:ext cx="33375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9"/>
          </a:solidFill>
          <a:ln xmlns:a="http://schemas.openxmlformats.org/drawingml/2006/main">
            <a:solidFill>
              <a:srgbClr val="DC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489F757-75B2-4E23-9CF5-D2D77F64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83480"/>
            <a:ext cx="73152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D5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5D31257-A912-418E-8DE1-53BC159D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129784"/>
            <a:ext cx="2971800" cy="405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75–100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568E969-AA62-4B3C-8F5F-7480BDEA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513832"/>
            <a:ext cx="2971800" cy="3444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Strong evidence and feasible next steps.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20F25E93-C95C-4E1D-B24E-13F6978A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983480"/>
            <a:ext cx="33375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9"/>
          </a:solidFill>
          <a:ln xmlns:a="http://schemas.openxmlformats.org/drawingml/2006/main">
            <a:solidFill>
              <a:srgbClr val="DC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8BD5C92-43EE-462A-B2AF-E19C75E1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983480"/>
            <a:ext cx="73152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6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6E6F95E-297D-4A07-A0A1-F1033FA9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7" y="5129784"/>
            <a:ext cx="2971800" cy="405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50–74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5458B3C-B3F7-4F68-BB5A-8490822C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7" y="5513832"/>
            <a:ext cx="2971800" cy="542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Important study or implementation gaps remain.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7D7DB57E-2A5B-45BB-9CAB-1AA03477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983480"/>
            <a:ext cx="33375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9"/>
          </a:solidFill>
          <a:ln xmlns:a="http://schemas.openxmlformats.org/drawingml/2006/main">
            <a:solidFill>
              <a:srgbClr val="DC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D54DFB6-7ACF-4455-944A-FF688BE6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983480"/>
            <a:ext cx="73152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B4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627EC2E-B56F-4D22-B415-B226EC28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5129784"/>
            <a:ext cx="2971800" cy="405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Below 50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233F5BE-7A7A-4396-BBCD-0391E17E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5513832"/>
            <a:ext cx="2971800" cy="542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Re-scope and agree a supported recovery plan.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4A00C1E-0B0F-4721-BF30-9E8BD454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080760"/>
            <a:ext cx="10332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5A6978"/>
                </a:solidFill>
                <a:latin typeface="Aptos"/>
                <a:ea typeface="Aptos"/>
                <a:cs typeface="Aptos"/>
              </a:rPr>
              <a:t>Suggested discussion rubric only. It does not measure patentability or guarantee publication or grant.</a:t>
            </a:r>
          </a:p>
        </p:txBody>
      </p:sp>
    </p:spTree>
    <p:extLst>
      <p:ext uri="{BB962C8B-B14F-4D97-AF65-F5344CB8AC3E}">
        <p14:creationId xmlns:p14="http://schemas.microsoft.com/office/powerpoint/2010/main" val="18666372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096F361-90C7-47EF-A398-0FC58265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D6DF98-A3D3-4333-8A90-88546F75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"/>
            <a:ext cx="106070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 Actions and Review Sign-off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36159A2-F24C-4750-869A-02D785EE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758952"/>
            <a:ext cx="169164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008287"/>
                </a:solidFill>
                <a:latin typeface="Aptos"/>
                <a:ea typeface="Aptos"/>
                <a:cs typeface="Aptos"/>
              </a:rPr>
              <a:t>CLOSURE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1231579-D845-42D8-8053-02579181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73952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0">
                <a:solidFill>
                  <a:srgbClr val="5A697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CFA132D-7904-40F6-AD51-FF2E0286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777240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A6978"/>
                </a:solidFill>
                <a:latin typeface="Aptos"/>
                <a:ea typeface="Aptos"/>
                <a:cs typeface="Aptos"/>
              </a:rPr>
              <a:t>MINDWEAVE-R RESEARCH &amp; INNOVATION REVIEW</a:t>
            </a:r>
          </a:p>
        </p:txBody>
      </p:sp>
      <p:graphicFrame>
        <p:nvGraphicFramePr>
          <p:cNvPr id="7" name="Table 6">
            <a:extLst xmlns:a="http://schemas.openxmlformats.org/drawingml/2006/main">
              <a:ext uri="{FF2B5EF4-FFF2-40B4-BE49-F238E27FC236}">
                <a16:creationId xmlns:a16="http://schemas.microsoft.com/office/drawing/2014/main" id="{DD71F2D5-BC73-4ADF-A172-B56AB3E162B3}"/>
              </a:ext>
            </a:extLst>
          </p:cNvPr>
          <p:cNvGraphicFramePr/>
          <p:nvPr/>
        </p:nvGraphicFramePr>
        <p:xfrm>
          <a:off xmlns:a="http://schemas.openxmlformats.org/drawingml/2006/main" x="594360" y="1234440"/>
          <a:ext xmlns:a="http://schemas.openxmlformats.org/drawingml/2006/main" cx="10972800" cy="32918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377440"/>
                <a:gridCol w="1645920"/>
                <a:gridCol w="3108960"/>
              </a:tblGrid>
              <a:tr h="658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Action / deliverable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Responsible person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Deadline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Evidence expected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1. Implement executable repair operators and post-checks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Tests for repair and rejected repairs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2. Build matched benchmark and baseline policies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Fault cases, seeds and configurations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3. Run paired trials, ablations and analysis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Raw runs, confidence intervals, limitations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4. Draft paper and seek institute IPR guidance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Manuscript draft and IPR meeting record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8924BC6-67C8-4CFA-AA15-B9A2775B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2040"/>
            <a:ext cx="347472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9"/>
          </a:solidFill>
          <a:ln xmlns:a="http://schemas.openxmlformats.org/drawingml/2006/main">
            <a:solidFill>
              <a:srgbClr val="DC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3779BFF-A624-4E76-920B-CA9F2BCD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2040"/>
            <a:ext cx="73152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2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6C65C72-0CBD-4DDE-89D7-F5767DCE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038344"/>
            <a:ext cx="3108960" cy="405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Review recommendation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37355D9-2716-4749-AD0E-52407158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5422392"/>
            <a:ext cx="3108960" cy="3444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☐ Planning  ☐ Pilot  ☐ Ready for validation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DD4D2B5A-70D2-4579-A399-E7CE2A09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92040"/>
            <a:ext cx="347472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9"/>
          </a:solidFill>
          <a:ln xmlns:a="http://schemas.openxmlformats.org/drawingml/2006/main">
            <a:solidFill>
              <a:srgbClr val="DC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94D5D27-167D-45F8-A078-E53A3974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92040"/>
            <a:ext cx="73152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69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1EA36C2-3524-4DB1-8B6D-85DB189A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5038344"/>
            <a:ext cx="3108960" cy="405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Student acknowledgement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0E2E298-8BDC-4EF3-BB40-D0E104CF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5422392"/>
            <a:ext cx="3108960" cy="3444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Name / signature: __________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D74ADE62-5C91-4AF9-BB33-5F7B0A09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92040"/>
            <a:ext cx="347472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9"/>
          </a:solidFill>
          <a:ln xmlns:a="http://schemas.openxmlformats.org/drawingml/2006/main">
            <a:solidFill>
              <a:srgbClr val="DC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6AEF4515-1FDC-4473-ACFD-A4BB1FEE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92040"/>
            <a:ext cx="73152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6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9DAD84A-7825-4293-8A51-7E2A1594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5038344"/>
            <a:ext cx="3108960" cy="405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Mentor / panel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B34DC1C-1DD7-41F7-9487-92C36B79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5422392"/>
            <a:ext cx="3108960" cy="3444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Name / signature: __________</a:t>
            </a:r>
          </a:p>
        </p:txBody>
      </p:sp>
    </p:spTree>
    <p:extLst>
      <p:ext uri="{BB962C8B-B14F-4D97-AF65-F5344CB8AC3E}">
        <p14:creationId xmlns:p14="http://schemas.microsoft.com/office/powerpoint/2010/main" val="20666652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08E1F02-765C-4BF1-B7E7-23BFB5BE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EF19B99-1CF5-40D7-AC57-B9A6BD2B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"/>
            <a:ext cx="106070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 Checklist and Review Decision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17E9908-2DB0-4ACD-893D-A2B4F253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758952"/>
            <a:ext cx="169164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008287"/>
                </a:solidFill>
                <a:latin typeface="Aptos"/>
                <a:ea typeface="Aptos"/>
                <a:cs typeface="Aptos"/>
              </a:rPr>
              <a:t>CLOSURE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476BDB8-D564-4C3A-B5D7-467BDFC0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840" y="6473952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0">
                <a:solidFill>
                  <a:srgbClr val="5A6978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E2C29C3-1FA0-4FDD-BB52-072076B1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73952"/>
            <a:ext cx="777240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5A6978"/>
                </a:solidFill>
                <a:latin typeface="Aptos"/>
                <a:ea typeface="Aptos"/>
                <a:cs typeface="Aptos"/>
              </a:rPr>
              <a:t>MINDWEAVE-R RESEARCH &amp; INNOVATION REVIEW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28A1768-1B0B-4B4D-BC07-081CD4FB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43000"/>
            <a:ext cx="5303520" cy="3566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9"/>
          </a:solidFill>
          <a:ln xmlns:a="http://schemas.openxmlformats.org/drawingml/2006/main">
            <a:solidFill>
              <a:srgbClr val="DC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BA000AF-B93C-4E18-9014-8E3C5DAE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43000"/>
            <a:ext cx="73152" cy="3566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2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DBBFDB-3099-45C6-9180-47478183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289304"/>
            <a:ext cx="4937759" cy="405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Research paper evidence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7CD3512-1A65-477E-8657-BB8424E5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673352"/>
            <a:ext cx="4937759" cy="1609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☐ Research question and method outline</a:t>
            </a:r>
          </a:p>
          <a:p xmlns:a="http://schemas.openxmlformats.org/drawingml/2006/main">
            <a:pPr algn="l">
              <a:buNone/>
            </a:pPr>
            <a:r>
              <a:rPr sz="16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☐ Source code and backend test suite</a:t>
            </a:r>
          </a:p>
          <a:p xmlns:a="http://schemas.openxmlformats.org/drawingml/2006/main">
            <a:pPr algn="l">
              <a:buNone/>
            </a:pPr>
            <a:r>
              <a:rPr sz="16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☐ 50-run synthetic pilot CSV, labelled as pilot</a:t>
            </a:r>
          </a:p>
          <a:p xmlns:a="http://schemas.openxmlformats.org/drawingml/2006/main">
            <a:pPr algn="l">
              <a:buNone/>
            </a:pPr>
            <a:r>
              <a:rPr sz="16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☐ Controlled baseline comparisons (pending)</a:t>
            </a:r>
          </a:p>
          <a:p xmlns:a="http://schemas.openxmlformats.org/drawingml/2006/main">
            <a:pPr algn="l">
              <a:buNone/>
            </a:pPr>
            <a:r>
              <a:rPr sz="16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☐ Reproducible analysis and quality checks (pending)</a:t>
            </a:r>
          </a:p>
          <a:p xmlns:a="http://schemas.openxmlformats.org/drawingml/2006/main">
            <a:pPr algn="l">
              <a:buNone/>
            </a:pPr>
            <a:r>
              <a:rPr sz="16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☐ Manuscript and venue review (pending)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9558662-A82B-4666-8758-D636F05D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143000"/>
            <a:ext cx="5303520" cy="3566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4F9"/>
          </a:solidFill>
          <a:ln xmlns:a="http://schemas.openxmlformats.org/drawingml/2006/main">
            <a:solidFill>
              <a:srgbClr val="DCE4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CBEB770-40CD-4857-98F1-6FCCF97C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143000"/>
            <a:ext cx="73152" cy="3566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63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093BB70-0EED-42A9-83B5-82C3CD5C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289304"/>
            <a:ext cx="4937759" cy="405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Patent evidence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6DCB92A-0DCF-4E55-AAB5-D311572E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673352"/>
            <a:ext cx="4937759" cy="16093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☐ Invention concept described in this deck</a:t>
            </a:r>
          </a:p>
          <a:p xmlns:a="http://schemas.openxmlformats.org/drawingml/2006/main">
            <a:pPr algn="l">
              <a:buNone/>
            </a:pPr>
            <a:r>
              <a:rPr sz="16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☐ Patent database search (not completed)</a:t>
            </a:r>
          </a:p>
          <a:p xmlns:a="http://schemas.openxmlformats.org/drawingml/2006/main">
            <a:pPr algn="l">
              <a:buNone/>
            </a:pPr>
            <a:r>
              <a:rPr sz="16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☐ Executable repair subgraphs (pending)</a:t>
            </a:r>
          </a:p>
          <a:p xmlns:a="http://schemas.openxmlformats.org/drawingml/2006/main">
            <a:pPr algn="l">
              <a:buNone/>
            </a:pPr>
            <a:r>
              <a:rPr sz="16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☐ Invention disclosure and ownership review (pending)</a:t>
            </a:r>
          </a:p>
          <a:p xmlns:a="http://schemas.openxmlformats.org/drawingml/2006/main">
            <a:pPr algn="l">
              <a:buNone/>
            </a:pPr>
            <a:r>
              <a:rPr sz="16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☐ Institute IPR / professional advice (pending)</a:t>
            </a:r>
          </a:p>
          <a:p xmlns:a="http://schemas.openxmlformats.org/drawingml/2006/main">
            <a:pPr algn="l">
              <a:buNone/>
            </a:pPr>
            <a:r>
              <a:rPr sz="16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☐ No application has been filed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7FF783C-94CB-46CA-8FB3-4A63B3C3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166360"/>
            <a:ext cx="22860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62D4E"/>
                </a:solidFill>
                <a:latin typeface="Aptos"/>
                <a:ea typeface="Aptos"/>
                <a:cs typeface="Aptos"/>
              </a:rPr>
              <a:t>Research readiness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B2BFA95-FCE0-4259-8393-7BBAA523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577840"/>
            <a:ext cx="10698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☐ Planning complete   ☐ Pilot reviewed   ☐ Validation required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83C6781-B08A-4474-B376-29D932B7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080760"/>
            <a:ext cx="107899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3152" tIns="73152" rIns="73152" bIns="73152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08287"/>
                </a:solidFill>
                <a:latin typeface="Aptos"/>
                <a:ea typeface="Aptos"/>
                <a:cs typeface="Aptos"/>
              </a:rPr>
              <a:t>The current evidence supports a prototype and a pilot plan. It does not yet establish research performance or patentability.</a:t>
            </a:r>
          </a:p>
        </p:txBody>
      </p:sp>
    </p:spTree>
    <p:extLst>
      <p:ext uri="{BB962C8B-B14F-4D97-AF65-F5344CB8AC3E}">
        <p14:creationId xmlns:p14="http://schemas.microsoft.com/office/powerpoint/2010/main" val="128721602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2026-10-21T18:05:14.2270000Z</dcterms:created>
  <dcterms:modified xsi:type="dcterms:W3CDTF">2026-10-21T18:05:14.2270000Z</dcterms:modified>
</coreProperties>
</file>