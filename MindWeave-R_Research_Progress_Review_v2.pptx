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AutoGen</a:t>
            </a:r>
            <a:r>
              <a:rPr dirty="0"/>
              <a:t>: Wu et al. (2023), https://arxiv.org/abs/2308.08155</a:t>
            </a:r>
          </a:p>
          <a:p>
            <a:r>
              <a:rPr dirty="0" err="1"/>
              <a:t>FlowBench</a:t>
            </a:r>
            <a:r>
              <a:rPr dirty="0"/>
              <a:t>: Xiao et al. (2024), Findings of EMNLP, https://aclanthology.org/2024.findings-emnlp.638/</a:t>
            </a:r>
          </a:p>
          <a:p>
            <a:r>
              <a:rPr dirty="0" err="1"/>
              <a:t>WorfBench</a:t>
            </a:r>
            <a:r>
              <a:rPr dirty="0"/>
              <a:t> / </a:t>
            </a:r>
            <a:r>
              <a:rPr dirty="0" err="1"/>
              <a:t>WorfEval</a:t>
            </a:r>
            <a:r>
              <a:rPr dirty="0"/>
              <a:t>: ICLR 2025, https://openreview.net/forum?id=1VU7zLtQyW</a:t>
            </a:r>
          </a:p>
          <a:p>
            <a:r>
              <a:rPr dirty="0"/>
              <a:t>LLM-as-Scheduler: Xiang et al. (2026), ACL Anthology, https://aclanthology.org/2026.acl-long.581/</a:t>
            </a:r>
          </a:p>
          <a:p>
            <a:r>
              <a:rPr dirty="0"/>
              <a:t>These works motivate comparison; the slide does not claim that </a:t>
            </a:r>
            <a:r>
              <a:rPr dirty="0" err="1"/>
              <a:t>MindWeave</a:t>
            </a:r>
            <a:r>
              <a:rPr dirty="0"/>
              <a:t>-R is novel or superior.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This slide describes a preliminary invention concept, not a novelty opinion. Patent databases have not yet been searched. Discuss filing timing with the institute IPR office before public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0E30-2A72-4ECF-A9E1-87C21B816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C04248-46E5-4460-B70B-3AE0B7097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1863B-5C97-4D3F-892D-59E250570F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BD6B7-8A29-418C-A998-039EDD6A51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8AA11-C25A-4201-ACC1-57A2B38358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AA001-5784-497A-BFDA-9DDE9290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D57C3-4495-455F-A302-13C0DF211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1F3E9-5B33-416D-B2F7-ADA019EBC2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4AD6F-EAE9-436F-9881-83A25AD5CD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0C0E9-E826-404D-AB18-E88AA8BD0A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DB5D-F81F-4EC7-BD30-1A1E3DDB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2691E-E340-46AD-8FC7-FD91E49E2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6CE5D-3DDF-4311-916B-99A57F4080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71619-7C21-47EB-99D7-C0C62B893F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1B8F4-C378-46E8-931F-08FB62E5DA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00E6D-5F65-4750-B321-7F85157FA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F1002-ABE0-4B90-B946-095E6DB35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BD08E-C5AC-420F-AE92-7BDAC858F16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55FBD-43D5-4F18-9C58-F29A09C9DE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8EF04-C04E-4917-ABFD-1E67C3DC5D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EDCBD-00C2-4525-85D8-9BA5332AC0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9B113-2272-4648-9021-AC561998D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587E7-53D0-4B76-92AB-0729089CF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67A96-DF0A-465D-972E-69C37CF729F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49697-42FE-42B4-AB13-1F064EA5E43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11777-33D7-4942-9045-45038E3B2A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7F97C-1C21-4D34-AE2B-670C98A1A2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F7B8E0-C53C-4446-9401-379F09DC35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4C147-FF11-4AF3-B39C-B7CB0C383E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879B-EC7F-45D2-9E6A-41BF3803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E9074D-A9F3-437C-B225-24A808DB2A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E36EF-4890-41BD-9D88-DC39ACDFE6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21F6D-0201-4FCB-BDA3-588A9BE662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3C06C-806D-4180-8321-301080C257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43D37-D59D-44F6-999D-8138287FAB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BDA6D-B2BD-45BA-8B99-D040366C2B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A8E5-A422-4790-AE4C-C728C5AE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64A8D-ED67-4362-B72A-FCB2D1050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62723-BAA5-4882-93FD-5B8747A8C01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3F3A-2420-45C0-90BC-66F1F811E0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EC016F-904F-412C-A2B7-DC237A7CEA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4D162-0370-4A3D-93F3-0A53220B2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B2BC5-7EF8-4DC9-B3FF-A338CEF5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18514-3710-4379-BF85-B54467721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09547-D205-4D3E-B082-F555A80346C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D0A7D-D072-4F77-B952-FDE3C802E7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3FB1B-3484-423C-B8F1-49795E7FF1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5B947-4BBE-49A7-9B11-1DC7F2E757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44C24-9388-48EA-832D-20A25F91A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D6A0F-2874-4EBE-A594-47924943D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15DA7-3F4A-47F5-8DD6-96575F84B8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9F938-9BD2-4630-942B-180C29BB0B0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A3D38-18CF-4978-93AA-29C7BF28E7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C30D3F-7745-47D7-BD66-400D2BE1E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DAEEB-0AB1-4AC8-89DB-3F7B74710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6B7F3-9337-4855-8CAD-C0AACA2E05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2FC6F-24E6-44C2-A7A9-3BF7B890FE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08E00-F083-4874-8FD9-FD20CDEAD1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FFF2B3-57EC-47AC-B439-AF3653CB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49B37-AAC4-4FFE-A85C-9DEB8470D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E13FE-012B-4D1C-807A-D11B14689C2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10/21/2026</a:t>
            </a:fld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4E805-6DC7-4915-AD71-CCE6A79FCC2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EA56D-856B-47A1-9E7F-6B003E4778A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C85E270-4C6F-4A66-BEE9-3B26EBC6A019}"/>
              </a:ext>
            </a:extLst>
          </p:cNvPr>
          <p:cNvSpPr>
            <a:spLocks noGrp="1"/>
          </p:cNvSpPr>
          <p:nvPr/>
        </p:nvSpPr>
        <p:spPr>
          <a:xfrm>
            <a:off x="8366760" y="685800"/>
            <a:ext cx="3063240" cy="1005840"/>
          </a:xfrm>
          <a:prstGeom prst="round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8E2B22-E93D-4CF6-9B31-ABC69B35AB50}"/>
              </a:ext>
            </a:extLst>
          </p:cNvPr>
          <p:cNvSpPr>
            <a:spLocks noGrp="1"/>
          </p:cNvSpPr>
          <p:nvPr/>
        </p:nvSpPr>
        <p:spPr>
          <a:xfrm>
            <a:off x="9144000" y="1920240"/>
            <a:ext cx="2286000" cy="1005840"/>
          </a:xfrm>
          <a:prstGeom prst="round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1FB5125-9802-41C5-92E2-2809FC1A5497}"/>
              </a:ext>
            </a:extLst>
          </p:cNvPr>
          <p:cNvSpPr>
            <a:spLocks noGrp="1"/>
          </p:cNvSpPr>
          <p:nvPr/>
        </p:nvSpPr>
        <p:spPr>
          <a:xfrm>
            <a:off x="7955279" y="3154680"/>
            <a:ext cx="3474720" cy="1051560"/>
          </a:xfrm>
          <a:prstGeom prst="round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2B5E1C-F03B-429D-87D8-1279CACC0AD2}"/>
              </a:ext>
            </a:extLst>
          </p:cNvPr>
          <p:cNvSpPr>
            <a:spLocks noGrp="1"/>
          </p:cNvSpPr>
          <p:nvPr/>
        </p:nvSpPr>
        <p:spPr>
          <a:xfrm>
            <a:off x="8869680" y="4434840"/>
            <a:ext cx="2560320" cy="731520"/>
          </a:xfrm>
          <a:prstGeom prst="roundRect">
            <a:avLst/>
          </a:prstGeom>
          <a:solidFill>
            <a:srgbClr val="31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6182C-4EF5-4EDB-8981-E08224ED3BD9}"/>
              </a:ext>
            </a:extLst>
          </p:cNvPr>
          <p:cNvSpPr>
            <a:spLocks noGrp="1"/>
          </p:cNvSpPr>
          <p:nvPr/>
        </p:nvSpPr>
        <p:spPr>
          <a:xfrm>
            <a:off x="731520" y="777240"/>
            <a:ext cx="6949440" cy="3901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600" b="1" dirty="0">
                <a:solidFill>
                  <a:srgbClr val="E0A637"/>
                </a:solidFill>
                <a:latin typeface="Aptos"/>
                <a:ea typeface="Aptos"/>
                <a:cs typeface="Aptos"/>
              </a:rPr>
              <a:t>STUDENT PROGRESS REVIEW | MINDWEAVE-R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78C43-DBED-4FB5-B08A-AF237DBC5402}"/>
              </a:ext>
            </a:extLst>
          </p:cNvPr>
          <p:cNvSpPr>
            <a:spLocks noGrp="1"/>
          </p:cNvSpPr>
          <p:nvPr/>
        </p:nvSpPr>
        <p:spPr>
          <a:xfrm>
            <a:off x="731520" y="1417320"/>
            <a:ext cx="7223760" cy="11826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lang="en-IN" sz="3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MindWeave-</a:t>
            </a:r>
            <a:r>
              <a:rPr sz="3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Contract-Aware Agent</a:t>
            </a:r>
          </a:p>
          <a:p>
            <a:pPr algn="l">
              <a:buNone/>
            </a:pPr>
            <a:r>
              <a:rPr sz="3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Workflow Repair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35185-49FA-45EB-AF15-FDF961C90AA6}"/>
              </a:ext>
            </a:extLst>
          </p:cNvPr>
          <p:cNvSpPr>
            <a:spLocks noGrp="1"/>
          </p:cNvSpPr>
          <p:nvPr/>
        </p:nvSpPr>
        <p:spPr>
          <a:xfrm>
            <a:off x="777240" y="3337560"/>
            <a:ext cx="6675120" cy="7254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900" b="0" dirty="0">
                <a:solidFill>
                  <a:srgbClr val="DCE6F0"/>
                </a:solidFill>
                <a:latin typeface="Aptos"/>
                <a:ea typeface="Aptos"/>
                <a:cs typeface="Aptos"/>
              </a:rPr>
              <a:t>A research prototype for repairing failed workflow contracts within cost and privacy limits, with traceable execution evidence.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C798D-5254-4398-9BBC-B7B853B50D94}"/>
              </a:ext>
            </a:extLst>
          </p:cNvPr>
          <p:cNvSpPr>
            <a:spLocks noGrp="1"/>
          </p:cNvSpPr>
          <p:nvPr/>
        </p:nvSpPr>
        <p:spPr>
          <a:xfrm>
            <a:off x="777240" y="4892040"/>
            <a:ext cx="5943600" cy="3901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Student / Team: __________________________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174937-ED27-478E-96BF-2869881F2081}"/>
              </a:ext>
            </a:extLst>
          </p:cNvPr>
          <p:cNvSpPr>
            <a:spLocks noGrp="1"/>
          </p:cNvSpPr>
          <p:nvPr/>
        </p:nvSpPr>
        <p:spPr>
          <a:xfrm>
            <a:off x="777240" y="5349240"/>
            <a:ext cx="5943600" cy="3901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Department: </a:t>
            </a:r>
            <a:r>
              <a:rPr lang="en-IN" sz="1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AI-DS</a:t>
            </a:r>
            <a:endParaRPr sz="1600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CFA72A-8154-48F4-AB39-BB303A0DD16D}"/>
              </a:ext>
            </a:extLst>
          </p:cNvPr>
          <p:cNvSpPr>
            <a:spLocks noGrp="1"/>
          </p:cNvSpPr>
          <p:nvPr/>
        </p:nvSpPr>
        <p:spPr>
          <a:xfrm>
            <a:off x="777240" y="5806440"/>
            <a:ext cx="5943600" cy="3901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Faculty Mentor: </a:t>
            </a:r>
            <a:r>
              <a:rPr lang="en-IN" sz="16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Dr. Minal Barhate</a:t>
            </a:r>
            <a:endParaRPr sz="1600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BCAC86-42AE-4BC5-A8B6-9F1A4BCD55D4}"/>
              </a:ext>
            </a:extLst>
          </p:cNvPr>
          <p:cNvSpPr>
            <a:spLocks noGrp="1"/>
          </p:cNvSpPr>
          <p:nvPr/>
        </p:nvSpPr>
        <p:spPr>
          <a:xfrm>
            <a:off x="777240" y="6309360"/>
            <a:ext cx="6858000" cy="3139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100" b="0" dirty="0" err="1">
                <a:solidFill>
                  <a:srgbClr val="C8D7E4"/>
                </a:solidFill>
                <a:latin typeface="Aptos"/>
                <a:ea typeface="Aptos"/>
                <a:cs typeface="Aptos"/>
              </a:rPr>
              <a:t>MindWeave</a:t>
            </a:r>
            <a:r>
              <a:rPr sz="1100" b="0" dirty="0">
                <a:solidFill>
                  <a:srgbClr val="C8D7E4"/>
                </a:solidFill>
                <a:latin typeface="Aptos"/>
                <a:ea typeface="Aptos"/>
                <a:cs typeface="Aptos"/>
              </a:rPr>
              <a:t>-R | Review No. ____ | Date: </a:t>
            </a:r>
            <a:r>
              <a:rPr lang="en-IN" sz="1100" b="0" dirty="0">
                <a:solidFill>
                  <a:srgbClr val="C8D7E4"/>
                </a:solidFill>
                <a:latin typeface="Aptos"/>
                <a:ea typeface="Aptos"/>
                <a:cs typeface="Aptos"/>
              </a:rPr>
              <a:t>22 Oct 2026</a:t>
            </a:r>
            <a:endParaRPr sz="1100" b="0" dirty="0">
              <a:solidFill>
                <a:srgbClr val="C8D7E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77A1E1-83CB-4FA5-B094-6DD4DB8B6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34567"/>
            <a:ext cx="6858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31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90771F-E6DB-458F-85CA-8CE4C41C38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A6F41-F2AD-474C-A083-3657DBCD93DA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Scope and Review Expectations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5DBBE-5210-43FF-88A0-318C528F8541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DD177-DC56-4884-AFEE-A9B74EE54454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C7CE21-32F3-4B15-897F-B6530F6F50FF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629494-3846-4DB4-B7A3-5DF88CAC63DE}"/>
              </a:ext>
            </a:extLst>
          </p:cNvPr>
          <p:cNvSpPr>
            <a:spLocks noGrp="1"/>
          </p:cNvSpPr>
          <p:nvPr/>
        </p:nvSpPr>
        <p:spPr>
          <a:xfrm>
            <a:off x="594360" y="1143000"/>
            <a:ext cx="356616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43959E-EADF-4E68-8E21-D4AE4F55E80B}"/>
              </a:ext>
            </a:extLst>
          </p:cNvPr>
          <p:cNvSpPr>
            <a:spLocks noGrp="1"/>
          </p:cNvSpPr>
          <p:nvPr/>
        </p:nvSpPr>
        <p:spPr>
          <a:xfrm>
            <a:off x="594360" y="1143000"/>
            <a:ext cx="73152" cy="18288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8819E-01D2-4ACD-B86C-73098F0CF2C2}"/>
              </a:ext>
            </a:extLst>
          </p:cNvPr>
          <p:cNvSpPr>
            <a:spLocks noGrp="1"/>
          </p:cNvSpPr>
          <p:nvPr/>
        </p:nvSpPr>
        <p:spPr>
          <a:xfrm>
            <a:off x="795528" y="1289304"/>
            <a:ext cx="320040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Research purpose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64F946-2471-42A5-B71A-996AC1366BDA}"/>
              </a:ext>
            </a:extLst>
          </p:cNvPr>
          <p:cNvSpPr>
            <a:spLocks noGrp="1"/>
          </p:cNvSpPr>
          <p:nvPr/>
        </p:nvSpPr>
        <p:spPr>
          <a:xfrm>
            <a:off x="795528" y="1673352"/>
            <a:ext cx="3200400" cy="12893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Study contract failures between agent nodes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Test budget-aware repair selection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Measure recovery and safety trade-offs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32360E1-C059-424E-AE6D-879808B5E201}"/>
              </a:ext>
            </a:extLst>
          </p:cNvPr>
          <p:cNvSpPr>
            <a:spLocks noGrp="1"/>
          </p:cNvSpPr>
          <p:nvPr/>
        </p:nvSpPr>
        <p:spPr>
          <a:xfrm>
            <a:off x="4343400" y="1143000"/>
            <a:ext cx="356616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B16616-9536-464E-AAA8-C8C288FC838B}"/>
              </a:ext>
            </a:extLst>
          </p:cNvPr>
          <p:cNvSpPr>
            <a:spLocks noGrp="1"/>
          </p:cNvSpPr>
          <p:nvPr/>
        </p:nvSpPr>
        <p:spPr>
          <a:xfrm>
            <a:off x="4343400" y="1143000"/>
            <a:ext cx="73152" cy="182880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F65D43-5483-4618-AADD-0964AC4402C3}"/>
              </a:ext>
            </a:extLst>
          </p:cNvPr>
          <p:cNvSpPr>
            <a:spLocks noGrp="1"/>
          </p:cNvSpPr>
          <p:nvPr/>
        </p:nvSpPr>
        <p:spPr>
          <a:xfrm>
            <a:off x="4544568" y="1289304"/>
            <a:ext cx="320040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Review outputs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CCE78E-EED6-4F62-B7FE-E6381C9B8EC1}"/>
              </a:ext>
            </a:extLst>
          </p:cNvPr>
          <p:cNvSpPr>
            <a:spLocks noGrp="1"/>
          </p:cNvSpPr>
          <p:nvPr/>
        </p:nvSpPr>
        <p:spPr>
          <a:xfrm>
            <a:off x="4544568" y="1673352"/>
            <a:ext cx="3200400" cy="8321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Working local MVP and test suite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Synthetic repair pilot and limitations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Controlled evaluation plan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2E004E4-FD9F-4C18-819E-87F43FBAADCE}"/>
              </a:ext>
            </a:extLst>
          </p:cNvPr>
          <p:cNvSpPr>
            <a:spLocks noGrp="1"/>
          </p:cNvSpPr>
          <p:nvPr/>
        </p:nvSpPr>
        <p:spPr>
          <a:xfrm>
            <a:off x="8092440" y="1143000"/>
            <a:ext cx="34747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FDD5DA-DAE1-4CB8-B66D-516F9943F913}"/>
              </a:ext>
            </a:extLst>
          </p:cNvPr>
          <p:cNvSpPr>
            <a:spLocks noGrp="1"/>
          </p:cNvSpPr>
          <p:nvPr/>
        </p:nvSpPr>
        <p:spPr>
          <a:xfrm>
            <a:off x="8092440" y="1143000"/>
            <a:ext cx="73152" cy="18288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E8B0C1-425D-45E1-B801-0CC03A301805}"/>
              </a:ext>
            </a:extLst>
          </p:cNvPr>
          <p:cNvSpPr>
            <a:spLocks noGrp="1"/>
          </p:cNvSpPr>
          <p:nvPr/>
        </p:nvSpPr>
        <p:spPr>
          <a:xfrm>
            <a:off x="8293608" y="1289304"/>
            <a:ext cx="310896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Evidence available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FFB43-B145-4F0F-9BB8-A07260CE637B}"/>
              </a:ext>
            </a:extLst>
          </p:cNvPr>
          <p:cNvSpPr>
            <a:spLocks noGrp="1"/>
          </p:cNvSpPr>
          <p:nvPr/>
        </p:nvSpPr>
        <p:spPr>
          <a:xfrm>
            <a:off x="8293608" y="1673352"/>
            <a:ext cx="3108960" cy="8321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Source code and backend tests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50-run deterministic fault script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• Execution traces and repair hashes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B55804-303E-46BF-AF47-596DD52AC574}"/>
              </a:ext>
            </a:extLst>
          </p:cNvPr>
          <p:cNvSpPr>
            <a:spLocks noGrp="1"/>
          </p:cNvSpPr>
          <p:nvPr/>
        </p:nvSpPr>
        <p:spPr>
          <a:xfrm>
            <a:off x="685800" y="3474720"/>
            <a:ext cx="2011680" cy="4206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8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Study boundary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A211EA-7887-48C7-844C-0C5F6D3A1D09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0881360" cy="1432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The prototype runs deterministic demo workflows and injected faults.</a:t>
            </a:r>
          </a:p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The 50-run CSV is a smoke test, not comparative research evidence.</a:t>
            </a:r>
          </a:p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No controlled baseline study or real-model quality evaluation has been completed.</a:t>
            </a:r>
          </a:p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A prototype certificate records hashes; it does not prove an output is true.</a:t>
            </a:r>
          </a:p>
        </p:txBody>
      </p:sp>
    </p:spTree>
    <p:extLst>
      <p:ext uri="{BB962C8B-B14F-4D97-AF65-F5344CB8AC3E}">
        <p14:creationId xmlns:p14="http://schemas.microsoft.com/office/powerpoint/2010/main" val="77484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9E140A-5057-4E30-AD5B-C2E36D6757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508CF-C44D-416E-A01F-DF2C0846D31F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MindWeave</a:t>
            </a: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-R Project Profile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CFA89-833D-42A9-ACFF-9666B85B9EC6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41D72-86C8-4C7F-A0AE-40644E690DD4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6997A-19BA-4E13-BF71-854DA83BC5DD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28AB25-958C-4F1C-87D1-44DCDF20A4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262523"/>
              </p:ext>
            </p:extLst>
          </p:nvPr>
        </p:nvGraphicFramePr>
        <p:xfrm>
          <a:off x="685800" y="1022555"/>
          <a:ext cx="10835640" cy="5482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4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Field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 dirty="0" err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MindWeave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-R project details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7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Student(s) / Roll number(s)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Tilak Garg(1251010421)</a:t>
                      </a:r>
                      <a:b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</a:br>
                      <a: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Atharva Gattani(1251010511)</a:t>
                      </a:r>
                      <a:b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</a:br>
                      <a: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Gargi Dhar(1251010351)</a:t>
                      </a:r>
                      <a:b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</a:br>
                      <a: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Pawan Dhiwar(1251010)</a:t>
                      </a:r>
                      <a:b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</a:br>
                      <a: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Ganesh Pawar(1251010389)</a:t>
                      </a:r>
                      <a:endParaRPr sz="1500" b="0" dirty="0">
                        <a:solidFill>
                          <a:srgbClr val="232D37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 dirty="0" err="1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Programme</a:t>
                      </a:r>
                      <a:r>
                        <a:rPr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 / Department / Year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SY- Second Year</a:t>
                      </a:r>
                      <a:endParaRPr sz="1500" b="0" dirty="0">
                        <a:solidFill>
                          <a:srgbClr val="232D37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Faculty mentor / Co-mentor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Dr. Minal Barhate</a:t>
                      </a:r>
                      <a:endParaRPr sz="1500" b="0" dirty="0">
                        <a:solidFill>
                          <a:srgbClr val="232D37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Project title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MindWeave- </a:t>
                      </a:r>
                      <a:r>
                        <a:rPr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Budgeted Contract Repair for Agent Workflows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Review number / 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22</a:t>
                      </a:r>
                      <a:r>
                        <a:rPr lang="en-IN" sz="1500" b="0" baseline="3000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nd</a:t>
                      </a:r>
                      <a:r>
                        <a:rPr lang="en-IN"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 Oct 2026</a:t>
                      </a:r>
                      <a:endParaRPr sz="1500" b="0" dirty="0">
                        <a:solidFill>
                          <a:srgbClr val="232D37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5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Target output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Research paper  ☐ Patent assessment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Research area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Reliable multi-agent workflow orchestration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538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E55E13-7704-4599-8548-AC7D4596F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718B4E-E26B-4896-836F-8E8CCC7D7B12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Problem, Objectives and Contribution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96A20-F582-4DB5-83A8-501513037C71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RESEARCH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B9033-C111-4845-BF36-7CE3791F3718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17BE55-501C-451C-B682-4555DB027576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17B184-08D7-42F9-96EF-3F18E86D7438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26E1BE-DC29-4D0A-A179-6224103D57D7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19D5B-274F-4DAF-B9E5-4B8AF64F2FD8}"/>
              </a:ext>
            </a:extLst>
          </p:cNvPr>
          <p:cNvSpPr>
            <a:spLocks noGrp="1"/>
          </p:cNvSpPr>
          <p:nvPr/>
        </p:nvSpPr>
        <p:spPr>
          <a:xfrm>
            <a:off x="841247" y="1289304"/>
            <a:ext cx="4937759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Problem and motivation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FC680-A5B3-4E6F-B87D-1A323EFEF5CE}"/>
              </a:ext>
            </a:extLst>
          </p:cNvPr>
          <p:cNvSpPr>
            <a:spLocks noGrp="1"/>
          </p:cNvSpPr>
          <p:nvPr/>
        </p:nvSpPr>
        <p:spPr>
          <a:xfrm>
            <a:off x="841247" y="1673352"/>
            <a:ext cx="4937759" cy="9235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Agent workflow nodes exchange artifacts. A weak or unsafe artifact can fail a downstream requirement or continue without a clear recovery path.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B13EEB-3621-4B31-95D9-6D6EC4AAA023}"/>
              </a:ext>
            </a:extLst>
          </p:cNvPr>
          <p:cNvSpPr>
            <a:spLocks noGrp="1"/>
          </p:cNvSpPr>
          <p:nvPr/>
        </p:nvSpPr>
        <p:spPr>
          <a:xfrm>
            <a:off x="621792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118245-4361-44D6-9148-9457F0BE1DDB}"/>
              </a:ext>
            </a:extLst>
          </p:cNvPr>
          <p:cNvSpPr>
            <a:spLocks noGrp="1"/>
          </p:cNvSpPr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5951C1-B204-4784-B0FA-865602A8D71B}"/>
              </a:ext>
            </a:extLst>
          </p:cNvPr>
          <p:cNvSpPr>
            <a:spLocks noGrp="1"/>
          </p:cNvSpPr>
          <p:nvPr/>
        </p:nvSpPr>
        <p:spPr>
          <a:xfrm>
            <a:off x="6419088" y="1289304"/>
            <a:ext cx="4937759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Research gap to examine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ACEBBB-D1DE-413F-B565-75A01FC837EC}"/>
              </a:ext>
            </a:extLst>
          </p:cNvPr>
          <p:cNvSpPr>
            <a:spLocks noGrp="1"/>
          </p:cNvSpPr>
          <p:nvPr/>
        </p:nvSpPr>
        <p:spPr>
          <a:xfrm>
            <a:off x="6419088" y="1673352"/>
            <a:ext cx="4937759" cy="9235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Workflow planning and dynamic routing already have research. We will test whether explicit edge contracts can guide constrained repair after a handoff fails.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5CC7565-E8D3-452D-A72D-A7F66AE41F60}"/>
              </a:ext>
            </a:extLst>
          </p:cNvPr>
          <p:cNvSpPr>
            <a:spLocks noGrp="1"/>
          </p:cNvSpPr>
          <p:nvPr/>
        </p:nvSpPr>
        <p:spPr>
          <a:xfrm>
            <a:off x="640080" y="329184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1946B3-50C4-48E4-869F-2F3291553E46}"/>
              </a:ext>
            </a:extLst>
          </p:cNvPr>
          <p:cNvSpPr>
            <a:spLocks noGrp="1"/>
          </p:cNvSpPr>
          <p:nvPr/>
        </p:nvSpPr>
        <p:spPr>
          <a:xfrm>
            <a:off x="640080" y="3291840"/>
            <a:ext cx="73152" cy="18288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404A3E-5950-4779-A594-D9838CEE7C22}"/>
              </a:ext>
            </a:extLst>
          </p:cNvPr>
          <p:cNvSpPr>
            <a:spLocks noGrp="1"/>
          </p:cNvSpPr>
          <p:nvPr/>
        </p:nvSpPr>
        <p:spPr>
          <a:xfrm>
            <a:off x="841247" y="3438144"/>
            <a:ext cx="4937759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Objectives and success measures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5A0F4C-8CDE-4C3C-9BE9-78997A7948DF}"/>
              </a:ext>
            </a:extLst>
          </p:cNvPr>
          <p:cNvSpPr>
            <a:spLocks noGrp="1"/>
          </p:cNvSpPr>
          <p:nvPr/>
        </p:nvSpPr>
        <p:spPr>
          <a:xfrm>
            <a:off x="841247" y="3822191"/>
            <a:ext cx="4937759" cy="9235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Compare recovery rate, added cost, latency and privacy violations across matched injected failures and baseline policies.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D040CCC-5685-4F60-AE9F-FD6163CD4274}"/>
              </a:ext>
            </a:extLst>
          </p:cNvPr>
          <p:cNvSpPr>
            <a:spLocks noGrp="1"/>
          </p:cNvSpPr>
          <p:nvPr/>
        </p:nvSpPr>
        <p:spPr>
          <a:xfrm>
            <a:off x="6217920" y="329184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610D52-3038-4748-96AF-C46647B595CD}"/>
              </a:ext>
            </a:extLst>
          </p:cNvPr>
          <p:cNvSpPr>
            <a:spLocks noGrp="1"/>
          </p:cNvSpPr>
          <p:nvPr/>
        </p:nvSpPr>
        <p:spPr>
          <a:xfrm>
            <a:off x="6217920" y="3291840"/>
            <a:ext cx="73152" cy="1828800"/>
          </a:xfrm>
          <a:prstGeom prst="rect">
            <a:avLst/>
          </a:prstGeom>
          <a:solidFill>
            <a:srgbClr val="31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A6E4ED-61EA-4894-B8A3-3A99CC98D34D}"/>
              </a:ext>
            </a:extLst>
          </p:cNvPr>
          <p:cNvSpPr>
            <a:spLocks noGrp="1"/>
          </p:cNvSpPr>
          <p:nvPr/>
        </p:nvSpPr>
        <p:spPr>
          <a:xfrm>
            <a:off x="6419088" y="3438144"/>
            <a:ext cx="4937759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Expected contribution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C671F2-0E55-4982-9A9C-92C45D67B15C}"/>
              </a:ext>
            </a:extLst>
          </p:cNvPr>
          <p:cNvSpPr>
            <a:spLocks noGrp="1"/>
          </p:cNvSpPr>
          <p:nvPr/>
        </p:nvSpPr>
        <p:spPr>
          <a:xfrm>
            <a:off x="6419088" y="3822191"/>
            <a:ext cx="4937759" cy="11826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tested repair-selection method, an auditable prototype trace and a reproducible evaluation. These contributions remain hypotheses until results support them.</a:t>
            </a:r>
          </a:p>
        </p:txBody>
      </p:sp>
    </p:spTree>
    <p:extLst>
      <p:ext uri="{BB962C8B-B14F-4D97-AF65-F5344CB8AC3E}">
        <p14:creationId xmlns:p14="http://schemas.microsoft.com/office/powerpoint/2010/main" val="206786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E894C8-BE4E-4D34-BBAA-E03EA8A5B3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B7A1AA-769F-4147-8027-A354DDB75908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Related Work and Prior-Art Landscape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50E1CF-8371-487C-99E0-EA2F6E4FC138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117BF1-992D-4870-82DB-D4880F699D14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C43E8-C33D-44F2-9E42-469B6CABD47F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8BDF94-D2E1-46F9-B0F1-4D159871BA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5507899"/>
              </p:ext>
            </p:extLst>
          </p:nvPr>
        </p:nvGraphicFramePr>
        <p:xfrm>
          <a:off x="594360" y="123444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Source / work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Focus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 or distinction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 err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MindWeave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-R question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 err="1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AutoGen</a:t>
                      </a: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 (Wu et al., 2023)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Multi-agent conversation framework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General agent infrastructure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Test explicit runtime artifact contracts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Flow Bench (Xiao et al., 2024)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Workflow-guided planning benchmark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Evaluates planning with workflow knowledge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Evaluate recovery after contract violations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 err="1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WorfBench</a:t>
                      </a: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 / </a:t>
                      </a:r>
                      <a:r>
                        <a:rPr sz="1300" b="0" dirty="0" err="1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WorfEval</a:t>
                      </a: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 (ICLR 2025)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DAG workflow generation and evaluation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Focuses on generated workflow quality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Measure execution-time repair under constraints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LLM-as-Scheduler (ACL 2026)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Dynamic routing across workflows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Optimizes workflow choice and efficiency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Study repair after a failed handoff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974562-9B9F-4935-8E67-9DDEEC7EC84D}"/>
              </a:ext>
            </a:extLst>
          </p:cNvPr>
          <p:cNvSpPr>
            <a:spLocks noGrp="1"/>
          </p:cNvSpPr>
          <p:nvPr/>
        </p:nvSpPr>
        <p:spPr>
          <a:xfrm>
            <a:off x="731520" y="4572000"/>
            <a:ext cx="5212080" cy="11430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1C7D00-9AA7-4873-9F93-F30EA9F25FF2}"/>
              </a:ext>
            </a:extLst>
          </p:cNvPr>
          <p:cNvSpPr>
            <a:spLocks noGrp="1"/>
          </p:cNvSpPr>
          <p:nvPr/>
        </p:nvSpPr>
        <p:spPr>
          <a:xfrm>
            <a:off x="731520" y="4572000"/>
            <a:ext cx="73152" cy="11430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313FD-0B83-4998-B396-D1F6FF88404D}"/>
              </a:ext>
            </a:extLst>
          </p:cNvPr>
          <p:cNvSpPr>
            <a:spLocks noGrp="1"/>
          </p:cNvSpPr>
          <p:nvPr/>
        </p:nvSpPr>
        <p:spPr>
          <a:xfrm>
            <a:off x="932688" y="4718304"/>
            <a:ext cx="484632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Search record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3291B-D7CD-4B36-AA3C-8784056D486D}"/>
              </a:ext>
            </a:extLst>
          </p:cNvPr>
          <p:cNvSpPr>
            <a:spLocks noGrp="1"/>
          </p:cNvSpPr>
          <p:nvPr/>
        </p:nvSpPr>
        <p:spPr>
          <a:xfrm>
            <a:off x="932688" y="5102352"/>
            <a:ext cx="4846320" cy="5730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4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Use ACL Anthology, </a:t>
            </a:r>
            <a:r>
              <a:rPr sz="1400" b="0" dirty="0" err="1">
                <a:solidFill>
                  <a:srgbClr val="232D37"/>
                </a:solidFill>
                <a:latin typeface="Aptos"/>
                <a:ea typeface="Aptos"/>
                <a:cs typeface="Aptos"/>
              </a:rPr>
              <a:t>OpenReview</a:t>
            </a:r>
            <a:r>
              <a:rPr sz="14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 and </a:t>
            </a:r>
            <a:r>
              <a:rPr sz="1400" b="0" dirty="0" err="1">
                <a:solidFill>
                  <a:srgbClr val="232D37"/>
                </a:solidFill>
                <a:latin typeface="Aptos"/>
                <a:ea typeface="Aptos"/>
                <a:cs typeface="Aptos"/>
              </a:rPr>
              <a:t>arXiv</a:t>
            </a:r>
            <a:r>
              <a:rPr sz="14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 for papers. Record query, date and inclusion criteria.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87A35CB-03E1-4C5B-A959-C3FC0977D041}"/>
              </a:ext>
            </a:extLst>
          </p:cNvPr>
          <p:cNvSpPr>
            <a:spLocks noGrp="1"/>
          </p:cNvSpPr>
          <p:nvPr/>
        </p:nvSpPr>
        <p:spPr>
          <a:xfrm>
            <a:off x="6217920" y="4572000"/>
            <a:ext cx="5212080" cy="11430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A37E65-DBB2-44D1-B567-40C33BE464AB}"/>
              </a:ext>
            </a:extLst>
          </p:cNvPr>
          <p:cNvSpPr>
            <a:spLocks noGrp="1"/>
          </p:cNvSpPr>
          <p:nvPr/>
        </p:nvSpPr>
        <p:spPr>
          <a:xfrm>
            <a:off x="6217920" y="4572000"/>
            <a:ext cx="73152" cy="11430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6211F3-2BDD-4966-A605-CF92E26AB683}"/>
              </a:ext>
            </a:extLst>
          </p:cNvPr>
          <p:cNvSpPr>
            <a:spLocks noGrp="1"/>
          </p:cNvSpPr>
          <p:nvPr/>
        </p:nvSpPr>
        <p:spPr>
          <a:xfrm>
            <a:off x="6419088" y="4718304"/>
            <a:ext cx="484632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Comparison focus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4577D0-4439-4778-B826-79CD99E56B69}"/>
              </a:ext>
            </a:extLst>
          </p:cNvPr>
          <p:cNvSpPr>
            <a:spLocks noGrp="1"/>
          </p:cNvSpPr>
          <p:nvPr/>
        </p:nvSpPr>
        <p:spPr>
          <a:xfrm>
            <a:off x="6419088" y="5102352"/>
            <a:ext cx="4846320" cy="5730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4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Compare the task, failure point, repair decision, constraints and evaluation, not just system names.</a:t>
            </a:r>
          </a:p>
        </p:txBody>
      </p:sp>
    </p:spTree>
    <p:extLst>
      <p:ext uri="{BB962C8B-B14F-4D97-AF65-F5344CB8AC3E}">
        <p14:creationId xmlns:p14="http://schemas.microsoft.com/office/powerpoint/2010/main" val="161181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7FEA41-C413-4417-982F-DF385EF752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70253-B3EA-4A68-BE8E-B33EBF07E3E7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Method, Prototype and Work Completed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6CAF3-7F19-4140-BE08-E1E45DE12697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SYSTEM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20DD5-D8A4-47E6-9C2F-855DC21EB441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810611-E7C7-4E58-AEA1-A7A41BED4499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AAEBBB-DDD2-43D3-A235-5E5E1440B5AD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352044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227C6B-8FFE-4383-B762-E2A5F402B56B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BB3C9D-ABD8-4ACB-AF31-D72B627C5029}"/>
              </a:ext>
            </a:extLst>
          </p:cNvPr>
          <p:cNvSpPr>
            <a:spLocks noGrp="1"/>
          </p:cNvSpPr>
          <p:nvPr/>
        </p:nvSpPr>
        <p:spPr>
          <a:xfrm>
            <a:off x="841247" y="1289304"/>
            <a:ext cx="315468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Method and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DEDDD-608A-44B8-AC31-65D8A3E2E632}"/>
              </a:ext>
            </a:extLst>
          </p:cNvPr>
          <p:cNvSpPr>
            <a:spLocks noGrp="1"/>
          </p:cNvSpPr>
          <p:nvPr/>
        </p:nvSpPr>
        <p:spPr>
          <a:xfrm>
            <a:off x="841246" y="1553164"/>
            <a:ext cx="3282695" cy="153272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 </a:t>
            </a:r>
            <a:r>
              <a:rPr sz="1500" b="0" dirty="0" err="1">
                <a:solidFill>
                  <a:srgbClr val="232D37"/>
                </a:solidFill>
                <a:latin typeface="Aptos"/>
                <a:ea typeface="Aptos"/>
                <a:cs typeface="Aptos"/>
              </a:rPr>
              <a:t>NetworkX</a:t>
            </a: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 DAG passes typed artifacts. Edge checks cover fields, provenance, confidence, privacy, freshness and budget. Failed contracts can invoke a scored repair candidate.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6E2B1D-BD27-4F5E-AFD5-FBEAF6BCCC6A}"/>
              </a:ext>
            </a:extLst>
          </p:cNvPr>
          <p:cNvSpPr>
            <a:spLocks noGrp="1"/>
          </p:cNvSpPr>
          <p:nvPr/>
        </p:nvSpPr>
        <p:spPr>
          <a:xfrm>
            <a:off x="4343400" y="1143000"/>
            <a:ext cx="352044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6BC649-24E4-416A-9B1E-430D763EBD5E}"/>
              </a:ext>
            </a:extLst>
          </p:cNvPr>
          <p:cNvSpPr>
            <a:spLocks noGrp="1"/>
          </p:cNvSpPr>
          <p:nvPr/>
        </p:nvSpPr>
        <p:spPr>
          <a:xfrm>
            <a:off x="4343400" y="1143000"/>
            <a:ext cx="73152" cy="182880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7CB49-D34B-437D-A69E-27FE473208BC}"/>
              </a:ext>
            </a:extLst>
          </p:cNvPr>
          <p:cNvSpPr>
            <a:spLocks noGrp="1"/>
          </p:cNvSpPr>
          <p:nvPr/>
        </p:nvSpPr>
        <p:spPr>
          <a:xfrm>
            <a:off x="4544568" y="1289304"/>
            <a:ext cx="315468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Prototype implementation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35CE3-FD43-4B76-9DC7-5CD5B64D0AC6}"/>
              </a:ext>
            </a:extLst>
          </p:cNvPr>
          <p:cNvSpPr>
            <a:spLocks noGrp="1"/>
          </p:cNvSpPr>
          <p:nvPr/>
        </p:nvSpPr>
        <p:spPr>
          <a:xfrm>
            <a:off x="4544568" y="1673352"/>
            <a:ext cx="3154680" cy="10607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React and React Flow canvas; </a:t>
            </a:r>
            <a:r>
              <a:rPr sz="1500" b="0" dirty="0" err="1">
                <a:solidFill>
                  <a:srgbClr val="232D37"/>
                </a:solidFill>
                <a:latin typeface="Aptos"/>
                <a:ea typeface="Aptos"/>
                <a:cs typeface="Aptos"/>
              </a:rPr>
              <a:t>FastAPI</a:t>
            </a: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dirty="0" err="1">
                <a:solidFill>
                  <a:srgbClr val="232D37"/>
                </a:solidFill>
                <a:latin typeface="Aptos"/>
                <a:ea typeface="Aptos"/>
                <a:cs typeface="Aptos"/>
              </a:rPr>
              <a:t>Pydantic</a:t>
            </a: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 and </a:t>
            </a:r>
            <a:r>
              <a:rPr sz="1500" b="0" dirty="0" err="1">
                <a:solidFill>
                  <a:srgbClr val="232D37"/>
                </a:solidFill>
                <a:latin typeface="Aptos"/>
                <a:ea typeface="Aptos"/>
                <a:cs typeface="Aptos"/>
              </a:rPr>
              <a:t>NetworkX</a:t>
            </a: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 backend; SQLite persistence; deterministic demo mode.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80653B0-5020-41EC-89D6-31E228C4D28B}"/>
              </a:ext>
            </a:extLst>
          </p:cNvPr>
          <p:cNvSpPr>
            <a:spLocks noGrp="1"/>
          </p:cNvSpPr>
          <p:nvPr/>
        </p:nvSpPr>
        <p:spPr>
          <a:xfrm>
            <a:off x="8046720" y="1143000"/>
            <a:ext cx="352044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F52F41-3D97-4EE8-B02C-64C789886726}"/>
              </a:ext>
            </a:extLst>
          </p:cNvPr>
          <p:cNvSpPr>
            <a:spLocks noGrp="1"/>
          </p:cNvSpPr>
          <p:nvPr/>
        </p:nvSpPr>
        <p:spPr>
          <a:xfrm>
            <a:off x="8046720" y="1143000"/>
            <a:ext cx="73152" cy="18288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B2DBA1-9FBA-412A-91C7-B519851EC2DE}"/>
              </a:ext>
            </a:extLst>
          </p:cNvPr>
          <p:cNvSpPr>
            <a:spLocks noGrp="1"/>
          </p:cNvSpPr>
          <p:nvPr/>
        </p:nvSpPr>
        <p:spPr>
          <a:xfrm>
            <a:off x="8247888" y="1289304"/>
            <a:ext cx="315468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Work present in the project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2A2AA7-6D8B-4FE0-B08F-B807A1171DE7}"/>
              </a:ext>
            </a:extLst>
          </p:cNvPr>
          <p:cNvSpPr>
            <a:spLocks noGrp="1"/>
          </p:cNvSpPr>
          <p:nvPr/>
        </p:nvSpPr>
        <p:spPr>
          <a:xfrm>
            <a:off x="8247888" y="1673352"/>
            <a:ext cx="3154680" cy="10607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The repository contains backend tests, candidate repair logic, hash-linked certificate records and a 50-case synthetic fault script.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455518-6DF0-4680-8BEE-F75BD2F74B8E}"/>
              </a:ext>
            </a:extLst>
          </p:cNvPr>
          <p:cNvSpPr>
            <a:spLocks noGrp="1"/>
          </p:cNvSpPr>
          <p:nvPr/>
        </p:nvSpPr>
        <p:spPr>
          <a:xfrm>
            <a:off x="731520" y="3474720"/>
            <a:ext cx="2377440" cy="4206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8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Evidence limits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EE36F8-7402-469A-A8D6-974DE7D428DD}"/>
              </a:ext>
            </a:extLst>
          </p:cNvPr>
          <p:cNvSpPr>
            <a:spLocks noGrp="1"/>
          </p:cNvSpPr>
          <p:nvPr/>
        </p:nvSpPr>
        <p:spPr>
          <a:xfrm>
            <a:off x="731520" y="3886200"/>
            <a:ext cx="10789920" cy="1432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7 backend tests are present; verify the current run before review.</a:t>
            </a:r>
          </a:p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The checked-in CSV contains 50 deterministic injected cases.</a:t>
            </a:r>
          </a:p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Repair operators currently transform demo artifacts rather than run full repair subgraphs.</a:t>
            </a:r>
          </a:p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No external LLM benchmark or human quality assessment is included.</a:t>
            </a:r>
          </a:p>
        </p:txBody>
      </p:sp>
    </p:spTree>
    <p:extLst>
      <p:ext uri="{BB962C8B-B14F-4D97-AF65-F5344CB8AC3E}">
        <p14:creationId xmlns:p14="http://schemas.microsoft.com/office/powerpoint/2010/main" val="1502759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85D60-EE66-4799-8164-AF25C91CC6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81192-5412-4E96-B105-E5F79B99579F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Results, Validation and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8436E-863B-4471-A4B4-CD8D3D7191C7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PILOT EVIDENCE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6E671-4011-415C-BE9E-DEE801280DB4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3D9E2-D6D5-4530-915F-7E5D334379B4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BB01F3-E05C-4E6A-BEB0-E5C98AD9D750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3520440" cy="19659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EDFF9B-3F01-43AF-BD2A-58AD05AC07DB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3152" cy="196596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864BB-32A2-4527-BCC2-846E99D71CC3}"/>
              </a:ext>
            </a:extLst>
          </p:cNvPr>
          <p:cNvSpPr>
            <a:spLocks noGrp="1"/>
          </p:cNvSpPr>
          <p:nvPr/>
        </p:nvSpPr>
        <p:spPr>
          <a:xfrm>
            <a:off x="841247" y="1289304"/>
            <a:ext cx="315468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Existing pilot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831D33-8A90-42B5-83B9-32C1D771C74C}"/>
              </a:ext>
            </a:extLst>
          </p:cNvPr>
          <p:cNvSpPr>
            <a:spLocks noGrp="1"/>
          </p:cNvSpPr>
          <p:nvPr/>
        </p:nvSpPr>
        <p:spPr>
          <a:xfrm>
            <a:off x="841247" y="1673352"/>
            <a:ext cx="3154680" cy="11216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6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The CSV records 50 of 50 synthetic cases as repaired across six injected failure types. Treat this only as a deterministic smoke test.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D711DA5-58BA-49DA-BFDA-D6AA10FF909B}"/>
              </a:ext>
            </a:extLst>
          </p:cNvPr>
          <p:cNvSpPr>
            <a:spLocks noGrp="1"/>
          </p:cNvSpPr>
          <p:nvPr/>
        </p:nvSpPr>
        <p:spPr>
          <a:xfrm>
            <a:off x="4343400" y="1143000"/>
            <a:ext cx="3520440" cy="19659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1F0588-E013-4849-B8C0-41CE5EA30EC4}"/>
              </a:ext>
            </a:extLst>
          </p:cNvPr>
          <p:cNvSpPr>
            <a:spLocks noGrp="1"/>
          </p:cNvSpPr>
          <p:nvPr/>
        </p:nvSpPr>
        <p:spPr>
          <a:xfrm>
            <a:off x="4343400" y="1143000"/>
            <a:ext cx="73152" cy="196596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CC79F-1AF2-4B99-B7D3-150716F8941F}"/>
              </a:ext>
            </a:extLst>
          </p:cNvPr>
          <p:cNvSpPr>
            <a:spLocks noGrp="1"/>
          </p:cNvSpPr>
          <p:nvPr/>
        </p:nvSpPr>
        <p:spPr>
          <a:xfrm>
            <a:off x="4544568" y="1289304"/>
            <a:ext cx="315468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Baseline comparison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00056A-8E73-4440-B254-64A7C7216C05}"/>
              </a:ext>
            </a:extLst>
          </p:cNvPr>
          <p:cNvSpPr>
            <a:spLocks noGrp="1"/>
          </p:cNvSpPr>
          <p:nvPr/>
        </p:nvSpPr>
        <p:spPr>
          <a:xfrm>
            <a:off x="4544568" y="1673352"/>
            <a:ext cx="3154680" cy="11216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6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No matched comparison against stop, retry, fixed fallback or cheapest-candidate selection has been run.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AEA6129-837C-497B-9DF8-54E18759F841}"/>
              </a:ext>
            </a:extLst>
          </p:cNvPr>
          <p:cNvSpPr>
            <a:spLocks noGrp="1"/>
          </p:cNvSpPr>
          <p:nvPr/>
        </p:nvSpPr>
        <p:spPr>
          <a:xfrm>
            <a:off x="8046720" y="1143000"/>
            <a:ext cx="3520440" cy="19659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BF1B81-6C1F-4E47-97E2-EC1D4032E6BA}"/>
              </a:ext>
            </a:extLst>
          </p:cNvPr>
          <p:cNvSpPr>
            <a:spLocks noGrp="1"/>
          </p:cNvSpPr>
          <p:nvPr/>
        </p:nvSpPr>
        <p:spPr>
          <a:xfrm>
            <a:off x="8046720" y="1143000"/>
            <a:ext cx="73152" cy="196596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A4BBAD-41B9-494F-9123-A7FFBD57A9A5}"/>
              </a:ext>
            </a:extLst>
          </p:cNvPr>
          <p:cNvSpPr>
            <a:spLocks noGrp="1"/>
          </p:cNvSpPr>
          <p:nvPr/>
        </p:nvSpPr>
        <p:spPr>
          <a:xfrm>
            <a:off x="8247888" y="1289304"/>
            <a:ext cx="315468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Known limitations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9E9092-97E6-4559-8C65-36AF00605148}"/>
              </a:ext>
            </a:extLst>
          </p:cNvPr>
          <p:cNvSpPr>
            <a:spLocks noGrp="1"/>
          </p:cNvSpPr>
          <p:nvPr/>
        </p:nvSpPr>
        <p:spPr>
          <a:xfrm>
            <a:off x="8247888" y="1673352"/>
            <a:ext cx="3154680" cy="11216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6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Demo artifacts and repair operations are synthetic. Real token cost, latency, privacy risk and output quality remain unmeasured.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11F089-C030-4888-931E-305BF7E85ACD}"/>
              </a:ext>
            </a:extLst>
          </p:cNvPr>
          <p:cNvSpPr>
            <a:spLocks noGrp="1"/>
          </p:cNvSpPr>
          <p:nvPr/>
        </p:nvSpPr>
        <p:spPr>
          <a:xfrm>
            <a:off x="777240" y="3703320"/>
            <a:ext cx="10515600" cy="6949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8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Report case counts, exact fault generation, configuration and raw traces. Do not present the pilot as a performance gain.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1F133C-CD7A-41E0-B34D-2F6E3CEC4A5B}"/>
              </a:ext>
            </a:extLst>
          </p:cNvPr>
          <p:cNvSpPr>
            <a:spLocks noGrp="1"/>
          </p:cNvSpPr>
          <p:nvPr/>
        </p:nvSpPr>
        <p:spPr>
          <a:xfrm>
            <a:off x="777240" y="4526280"/>
            <a:ext cx="1051560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For real-model trials, add task-specific quality checks and blinded review alongside mechanical contract checks.</a:t>
            </a:r>
          </a:p>
        </p:txBody>
      </p:sp>
    </p:spTree>
    <p:extLst>
      <p:ext uri="{BB962C8B-B14F-4D97-AF65-F5344CB8AC3E}">
        <p14:creationId xmlns:p14="http://schemas.microsoft.com/office/powerpoint/2010/main" val="78342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31620D-1F0E-4374-8FB4-3517E699BB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2DD29-B268-4494-8E7A-4A05660681A0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Paper Track: Draft Readiness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5B4AF-950C-4A88-ADAE-3A2F6B4228FD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RESEARCH PAPER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D86F2-4342-4345-9457-2B9C47D0C923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F35A5E-7B1E-4091-B5ED-B1C079CB4804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4DA780-A383-488C-B308-69F8678D5793}"/>
              </a:ext>
            </a:extLst>
          </p:cNvPr>
          <p:cNvGraphicFramePr/>
          <p:nvPr/>
        </p:nvGraphicFramePr>
        <p:xfrm>
          <a:off x="594360" y="11430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Section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/ next work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Title, abstract, keywords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Working title 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Write after results are available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Introduction and research gap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Outline planned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Narrow claims using related work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Related work and citations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Initial sources identified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Build dated literature matrix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Method and reproducibility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Prototype exists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Specify operators, weights and protocol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Results and limitations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Synthetic pilot 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Run baselines and paired trials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Conclusion and future work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Write from measured findings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References and formatting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Select venue and follow its guide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799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16D002-2E82-42DB-AC45-18C6B6015C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84DFF-3F36-4533-B968-3804372B462C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Paper Track: Venue and Submission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226C8-E8C8-4C4F-8734-695855418123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RESEARCH PAPER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F2BA6-B5E3-46E5-9021-BDAF9FB437B0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ED05E-F72D-42FC-B6FF-11B4F810693B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4A9A22-8FA1-4DF7-9603-43E9F1C04122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00339B-2E09-42E4-B439-D27855EB2BC8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26BC0-548E-4AC1-9291-3E4CB8A6C755}"/>
              </a:ext>
            </a:extLst>
          </p:cNvPr>
          <p:cNvSpPr>
            <a:spLocks noGrp="1"/>
          </p:cNvSpPr>
          <p:nvPr/>
        </p:nvSpPr>
        <p:spPr>
          <a:xfrm>
            <a:off x="841247" y="1289304"/>
            <a:ext cx="4937759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Target venue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C3798-4203-4893-91E3-A8EBB4F6618E}"/>
              </a:ext>
            </a:extLst>
          </p:cNvPr>
          <p:cNvSpPr>
            <a:spLocks noGrp="1"/>
          </p:cNvSpPr>
          <p:nvPr/>
        </p:nvSpPr>
        <p:spPr>
          <a:xfrm>
            <a:off x="841247" y="1673352"/>
            <a:ext cx="4937759" cy="8321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Journal / conference: To be selected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Check scope, author rules and indexing on official pages.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No submission has been made.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657108-D02D-47C3-9580-26D6F72F6D12}"/>
              </a:ext>
            </a:extLst>
          </p:cNvPr>
          <p:cNvSpPr>
            <a:spLocks noGrp="1"/>
          </p:cNvSpPr>
          <p:nvPr/>
        </p:nvSpPr>
        <p:spPr>
          <a:xfrm>
            <a:off x="621792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828BFF-FB3E-4138-BD79-B98E967022EA}"/>
              </a:ext>
            </a:extLst>
          </p:cNvPr>
          <p:cNvSpPr>
            <a:spLocks noGrp="1"/>
          </p:cNvSpPr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8C9CF7-23E1-4D1C-8994-DBD0944BA20F}"/>
              </a:ext>
            </a:extLst>
          </p:cNvPr>
          <p:cNvSpPr>
            <a:spLocks noGrp="1"/>
          </p:cNvSpPr>
          <p:nvPr/>
        </p:nvSpPr>
        <p:spPr>
          <a:xfrm>
            <a:off x="6419088" y="1289304"/>
            <a:ext cx="4937759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Submission status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6BDACF-DD69-4F35-9F4E-C73FFDDF5DBE}"/>
              </a:ext>
            </a:extLst>
          </p:cNvPr>
          <p:cNvSpPr>
            <a:spLocks noGrp="1"/>
          </p:cNvSpPr>
          <p:nvPr/>
        </p:nvSpPr>
        <p:spPr>
          <a:xfrm>
            <a:off x="6419088" y="1673352"/>
            <a:ext cx="4937759" cy="8321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Planning  ☐ Drafting  ☐ Mentor review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Submitted  ☐ Revision  ☐ Accepted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Submission date / ID: Not applicable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E97C61-F222-4E68-A312-3555280F3C43}"/>
              </a:ext>
            </a:extLst>
          </p:cNvPr>
          <p:cNvSpPr>
            <a:spLocks noGrp="1"/>
          </p:cNvSpPr>
          <p:nvPr/>
        </p:nvSpPr>
        <p:spPr>
          <a:xfrm>
            <a:off x="731520" y="3429000"/>
            <a:ext cx="2926080" cy="4206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8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Before submission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2CD7E0-EE76-476B-AB07-1B2D3A298F2C}"/>
              </a:ext>
            </a:extLst>
          </p:cNvPr>
          <p:cNvSpPr>
            <a:spLocks noGrp="1"/>
          </p:cNvSpPr>
          <p:nvPr/>
        </p:nvSpPr>
        <p:spPr>
          <a:xfrm>
            <a:off x="731520" y="3840480"/>
            <a:ext cx="10698480" cy="1432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Complete the controlled study and document the analysis plan.</a:t>
            </a:r>
          </a:p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Agree authorship and contributions with the supervisor.</a:t>
            </a:r>
          </a:p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Check the selected venue’s current policies and format.</a:t>
            </a:r>
          </a:p>
          <a:p>
            <a:pPr>
              <a:spcAft>
                <a:spcPts val="800"/>
              </a:spcAft>
              <a:buNone/>
              <a:defRPr sz="1700">
                <a:solidFill>
                  <a:srgbClr val="232D37"/>
                </a:solidFill>
                <a:latin typeface="Aptos"/>
                <a:ea typeface="Aptos"/>
                <a:cs typeface="Aptos"/>
              </a:defRPr>
            </a:pPr>
            <a:r>
              <a:rPr dirty="0"/>
              <a:t>Do not describe a planned result as a finding.</a:t>
            </a:r>
          </a:p>
        </p:txBody>
      </p:sp>
    </p:spTree>
    <p:extLst>
      <p:ext uri="{BB962C8B-B14F-4D97-AF65-F5344CB8AC3E}">
        <p14:creationId xmlns:p14="http://schemas.microsoft.com/office/powerpoint/2010/main" val="833107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EAB114-A14F-485D-93DD-B8C7CBBFC1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F60C12-6C9A-44CB-8A9C-CEA9B80F35ED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Patent Track: Invention Concept and Novelty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66EC62-1D56-4D74-BFF1-E830E32A24C5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IP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3668B-5294-47BB-969F-FD4531526662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3F914-2F23-4FDB-8937-E2BA1483156D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0451DE-B8FD-4CBA-AD91-7D38C88CC1A1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0EAA96-953A-45FB-80C8-DB41FD9C5BB3}"/>
              </a:ext>
            </a:extLst>
          </p:cNvPr>
          <p:cNvSpPr>
            <a:spLocks noGrp="1"/>
          </p:cNvSpPr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5FEDC-2397-4974-A7C6-7DB527B16DDA}"/>
              </a:ext>
            </a:extLst>
          </p:cNvPr>
          <p:cNvSpPr>
            <a:spLocks noGrp="1"/>
          </p:cNvSpPr>
          <p:nvPr/>
        </p:nvSpPr>
        <p:spPr>
          <a:xfrm>
            <a:off x="841247" y="1289304"/>
            <a:ext cx="4937759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Invention concept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84D4A9-3705-43EF-9F1E-22C0FA9A5354}"/>
              </a:ext>
            </a:extLst>
          </p:cNvPr>
          <p:cNvSpPr>
            <a:spLocks noGrp="1"/>
          </p:cNvSpPr>
          <p:nvPr/>
        </p:nvSpPr>
        <p:spPr>
          <a:xfrm>
            <a:off x="841247" y="1673352"/>
            <a:ext cx="4937759" cy="12893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Title: Budgeted Contract Repair for Agent Workflows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Problem: Failed artifact contracts interrupt reliable DAG execution.</a:t>
            </a:r>
          </a:p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Mechanism: Select and verify a feasible repair under constraints.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9A4BC68-EEC1-4E9B-AD74-5029187AF190}"/>
              </a:ext>
            </a:extLst>
          </p:cNvPr>
          <p:cNvSpPr>
            <a:spLocks noGrp="1"/>
          </p:cNvSpPr>
          <p:nvPr/>
        </p:nvSpPr>
        <p:spPr>
          <a:xfrm>
            <a:off x="6217920" y="1143000"/>
            <a:ext cx="5303520" cy="18288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071CDC-18BD-4A11-AF80-D5B42143066F}"/>
              </a:ext>
            </a:extLst>
          </p:cNvPr>
          <p:cNvSpPr>
            <a:spLocks noGrp="1"/>
          </p:cNvSpPr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C67CD-8415-4DC5-A813-7CE66D79E59D}"/>
              </a:ext>
            </a:extLst>
          </p:cNvPr>
          <p:cNvSpPr>
            <a:spLocks noGrp="1"/>
          </p:cNvSpPr>
          <p:nvPr/>
        </p:nvSpPr>
        <p:spPr>
          <a:xfrm>
            <a:off x="6419088" y="1289304"/>
            <a:ext cx="4937759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Potential technical 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5F67BA-8617-48CA-8D14-883E6B09D93C}"/>
              </a:ext>
            </a:extLst>
          </p:cNvPr>
          <p:cNvSpPr>
            <a:spLocks noGrp="1"/>
          </p:cNvSpPr>
          <p:nvPr/>
        </p:nvSpPr>
        <p:spPr>
          <a:xfrm>
            <a:off x="6419088" y="1673352"/>
            <a:ext cx="4937759" cy="10607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5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Candidate repairs are scored by cost, latency, privacy risk and residual failure risk. A successful repair is checked before downstream execution and recorded with trace hashes. Novelty is unproven.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EE2892-E40D-48DE-937A-EDE1FA0E6359}"/>
              </a:ext>
            </a:extLst>
          </p:cNvPr>
          <p:cNvSpPr>
            <a:spLocks noGrp="1"/>
          </p:cNvSpPr>
          <p:nvPr/>
        </p:nvSpPr>
        <p:spPr>
          <a:xfrm>
            <a:off x="731520" y="3429000"/>
            <a:ext cx="2926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8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Prior-art search record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A499343-0DA5-4862-8834-2F1305D52845}"/>
              </a:ext>
            </a:extLst>
          </p:cNvPr>
          <p:cNvGraphicFramePr/>
          <p:nvPr/>
        </p:nvGraphicFramePr>
        <p:xfrm>
          <a:off x="685800" y="3840480"/>
          <a:ext cx="108356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Database / source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Search terms / 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Closest document and difference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Google Patents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agent workflow repair; not searched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Pending 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WIPO PATENTSCOPE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budgeted repair; not searched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Pending search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 err="1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Espacenet</a:t>
                      </a:r>
                      <a:endParaRPr sz="1300" b="0" dirty="0">
                        <a:solidFill>
                          <a:srgbClr val="232D37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repair certificate; not searched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Pending 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571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F573BD-FDD1-46D6-84B5-E3058E0B7F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6B31F-AE31-4627-B095-E5B005F15C44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Patent Track: Disclosure and Filing Readiness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73BB3-842D-4BE8-9ECD-CB6A5B320C8E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IP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8B307-E9A2-4841-99F9-DD0609377C72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07FA1-A1F0-463C-8141-9A2CCF7F925C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DEB84A-85EC-4C1D-B2F1-3FFCC525969E}"/>
              </a:ext>
            </a:extLst>
          </p:cNvPr>
          <p:cNvGraphicFramePr/>
          <p:nvPr/>
        </p:nvGraphicFramePr>
        <p:xfrm>
          <a:off x="594360" y="1188720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Deliverable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/ next action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Invention disclosure to institute IPR cell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submitted; discuss before disclosure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Inventor details and ownership reviewed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Confirm contributors with institute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Prototype / proof of concept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MVP exists; repair operators are demo transforms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Specification and claims drafted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drafted; novelty not assessed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Internal / professional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Consult IPR office or patent professional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Application filed and receipt recorded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☐ No ☐ In progress ☐ Yes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 application filed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67D6B38-951C-478E-AD05-6CEB99AA0C89}"/>
              </a:ext>
            </a:extLst>
          </p:cNvPr>
          <p:cNvSpPr>
            <a:spLocks noGrp="1"/>
          </p:cNvSpPr>
          <p:nvPr/>
        </p:nvSpPr>
        <p:spPr>
          <a:xfrm>
            <a:off x="731520" y="5394960"/>
            <a:ext cx="5212080" cy="73152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C8C085-511E-4474-A7B4-443C6B962EE9}"/>
              </a:ext>
            </a:extLst>
          </p:cNvPr>
          <p:cNvSpPr>
            <a:spLocks noGrp="1"/>
          </p:cNvSpPr>
          <p:nvPr/>
        </p:nvSpPr>
        <p:spPr>
          <a:xfrm>
            <a:off x="731520" y="5394960"/>
            <a:ext cx="73152" cy="73152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562DD7-5B2D-421C-8D65-FF2F5271E47C}"/>
              </a:ext>
            </a:extLst>
          </p:cNvPr>
          <p:cNvSpPr>
            <a:spLocks noGrp="1"/>
          </p:cNvSpPr>
          <p:nvPr/>
        </p:nvSpPr>
        <p:spPr>
          <a:xfrm>
            <a:off x="932688" y="5541264"/>
            <a:ext cx="484632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Disclosure timing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6DF616-BC9E-4590-886B-B19969B09AB2}"/>
              </a:ext>
            </a:extLst>
          </p:cNvPr>
          <p:cNvSpPr>
            <a:spLocks noGrp="1"/>
          </p:cNvSpPr>
          <p:nvPr/>
        </p:nvSpPr>
        <p:spPr>
          <a:xfrm>
            <a:off x="932688" y="592531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2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Ask institute IPR before public disclosure.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E69373D-8173-40A7-B9D8-4ADD70C2CB0A}"/>
              </a:ext>
            </a:extLst>
          </p:cNvPr>
          <p:cNvSpPr>
            <a:spLocks noGrp="1"/>
          </p:cNvSpPr>
          <p:nvPr/>
        </p:nvSpPr>
        <p:spPr>
          <a:xfrm>
            <a:off x="6217920" y="5394960"/>
            <a:ext cx="5212080" cy="73152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E6604E-DD3B-4E24-A905-B875B797ED29}"/>
              </a:ext>
            </a:extLst>
          </p:cNvPr>
          <p:cNvSpPr>
            <a:spLocks noGrp="1"/>
          </p:cNvSpPr>
          <p:nvPr/>
        </p:nvSpPr>
        <p:spPr>
          <a:xfrm>
            <a:off x="6217920" y="5394960"/>
            <a:ext cx="73152" cy="73152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4E42F4-5658-463E-A480-A098AA750FC9}"/>
              </a:ext>
            </a:extLst>
          </p:cNvPr>
          <p:cNvSpPr>
            <a:spLocks noGrp="1"/>
          </p:cNvSpPr>
          <p:nvPr/>
        </p:nvSpPr>
        <p:spPr>
          <a:xfrm>
            <a:off x="6419088" y="5541264"/>
            <a:ext cx="484632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Status discipline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E3F75E-2379-450E-A6D4-9FA2D83BCD89}"/>
              </a:ext>
            </a:extLst>
          </p:cNvPr>
          <p:cNvSpPr>
            <a:spLocks noGrp="1"/>
          </p:cNvSpPr>
          <p:nvPr/>
        </p:nvSpPr>
        <p:spPr>
          <a:xfrm>
            <a:off x="6419088" y="592531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2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Concept ≠ filed application ≠ granted patent.</a:t>
            </a:r>
          </a:p>
        </p:txBody>
      </p:sp>
    </p:spTree>
    <p:extLst>
      <p:ext uri="{BB962C8B-B14F-4D97-AF65-F5344CB8AC3E}">
        <p14:creationId xmlns:p14="http://schemas.microsoft.com/office/powerpoint/2010/main" val="360225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B664EA-FF15-4AFD-8EF5-759C52F66F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D0098-A2B9-44C3-BB37-D24F91C09B0E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Milestones: Planned and Current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F07CA-33B7-4C71-89F5-B5679CAE43C1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PROGRESS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456BF-C4CC-447C-B856-01ED0E0F9488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D4FCD0-C8A9-4E7E-BFA7-A533FD8B3EA0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9A3BC1-A88C-4467-85EE-8074BFAB4D5C}"/>
              </a:ext>
            </a:extLst>
          </p:cNvPr>
          <p:cNvGraphicFramePr/>
          <p:nvPr/>
        </p:nvGraphicFramePr>
        <p:xfrm>
          <a:off x="502920" y="123444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Milestone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Planned date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date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/ next work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Related-work and patent search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 progress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Initial paper sources; patent search pending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Executable repair operations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Prototype gap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Replace demo artifact transforms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Benchmark and baseline design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Planned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Stop, retry, fixed fallback, planner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Paired evaluation and analysis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Recovery, cost, latency, privacy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Paper draft and mentor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Draft after controlled results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IPR review and filing decision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Not started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Institute advice before disclosure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144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A629BE-CE67-42FB-9D77-8E4B4573B1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7C9C7-3780-42E3-9E3C-E8CE11E7870C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Risks and Support Required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203CA-C0E4-4EE4-BD44-277F4B02F8D3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PROGRESS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7D5A3-A0A8-40F6-8CBA-D0E81D2FEB66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01BCD-522F-4845-85C3-48D42552AC1E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35B7D4-CF66-43AC-BDD2-65A42387255D}"/>
              </a:ext>
            </a:extLst>
          </p:cNvPr>
          <p:cNvGraphicFramePr/>
          <p:nvPr/>
        </p:nvGraphicFramePr>
        <p:xfrm>
          <a:off x="594360" y="128016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Issue / risk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Impact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Support / mitigation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Owner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Due date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Synthetic repairs inflate success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Invalid research claim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Implement real repair operators and negative cases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No matched baselines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Cannot attribute improvement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Use paired cases and fixed configurations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Public disclosure before IP advice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May affect filing options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Contact institute IPR office before submission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4930BDE-067C-42BE-B606-66D27658B44C}"/>
              </a:ext>
            </a:extLst>
          </p:cNvPr>
          <p:cNvSpPr>
            <a:spLocks noGrp="1"/>
          </p:cNvSpPr>
          <p:nvPr/>
        </p:nvSpPr>
        <p:spPr>
          <a:xfrm>
            <a:off x="731520" y="4663440"/>
            <a:ext cx="521208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6305A4-98B1-4835-A5AB-9854AD2E58F3}"/>
              </a:ext>
            </a:extLst>
          </p:cNvPr>
          <p:cNvSpPr>
            <a:spLocks noGrp="1"/>
          </p:cNvSpPr>
          <p:nvPr/>
        </p:nvSpPr>
        <p:spPr>
          <a:xfrm>
            <a:off x="731520" y="4663440"/>
            <a:ext cx="73152" cy="105156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1BD10F-9EF4-49A7-A1A5-BE7B50E1FBBD}"/>
              </a:ext>
            </a:extLst>
          </p:cNvPr>
          <p:cNvSpPr>
            <a:spLocks noGrp="1"/>
          </p:cNvSpPr>
          <p:nvPr/>
        </p:nvSpPr>
        <p:spPr>
          <a:xfrm>
            <a:off x="932688" y="4809744"/>
            <a:ext cx="484632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Support needed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A30027-6223-43A2-A664-3E476C68AC89}"/>
              </a:ext>
            </a:extLst>
          </p:cNvPr>
          <p:cNvSpPr>
            <a:spLocks noGrp="1"/>
          </p:cNvSpPr>
          <p:nvPr/>
        </p:nvSpPr>
        <p:spPr>
          <a:xfrm>
            <a:off x="932688" y="5193792"/>
            <a:ext cx="4846320" cy="5730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4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Supervisor advice on methods, statistics, local models and institute IP guidance.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A22CC7-0C1C-42D1-9BA2-C6CF6131E8F2}"/>
              </a:ext>
            </a:extLst>
          </p:cNvPr>
          <p:cNvSpPr>
            <a:spLocks noGrp="1"/>
          </p:cNvSpPr>
          <p:nvPr/>
        </p:nvSpPr>
        <p:spPr>
          <a:xfrm>
            <a:off x="6217920" y="4663440"/>
            <a:ext cx="521208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7A6875-840D-4D7F-BF73-CCCBF925FAE7}"/>
              </a:ext>
            </a:extLst>
          </p:cNvPr>
          <p:cNvSpPr>
            <a:spLocks noGrp="1"/>
          </p:cNvSpPr>
          <p:nvPr/>
        </p:nvSpPr>
        <p:spPr>
          <a:xfrm>
            <a:off x="6217920" y="4663440"/>
            <a:ext cx="73152" cy="105156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B214A6-0CF1-4A35-AA91-329F4DCD34E8}"/>
              </a:ext>
            </a:extLst>
          </p:cNvPr>
          <p:cNvSpPr>
            <a:spLocks noGrp="1"/>
          </p:cNvSpPr>
          <p:nvPr/>
        </p:nvSpPr>
        <p:spPr>
          <a:xfrm>
            <a:off x="6419088" y="4809744"/>
            <a:ext cx="484632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Escalation points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BEEDEE-34E5-4F7F-B13B-E01802E129C3}"/>
              </a:ext>
            </a:extLst>
          </p:cNvPr>
          <p:cNvSpPr>
            <a:spLocks noGrp="1"/>
          </p:cNvSpPr>
          <p:nvPr/>
        </p:nvSpPr>
        <p:spPr>
          <a:xfrm>
            <a:off x="6419088" y="5193792"/>
            <a:ext cx="4846320" cy="5730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4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Resolve repair gaps, benchmark design, authorship and IP disclosure timing.</a:t>
            </a:r>
          </a:p>
        </p:txBody>
      </p:sp>
    </p:spTree>
    <p:extLst>
      <p:ext uri="{BB962C8B-B14F-4D97-AF65-F5344CB8AC3E}">
        <p14:creationId xmlns:p14="http://schemas.microsoft.com/office/powerpoint/2010/main" val="40781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96F361-90C7-47EF-A398-0FC5826513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D6DF98-A3D3-4333-8A90-88546F75B51C}"/>
              </a:ext>
            </a:extLst>
          </p:cNvPr>
          <p:cNvSpPr>
            <a:spLocks noGrp="1"/>
          </p:cNvSpPr>
          <p:nvPr/>
        </p:nvSpPr>
        <p:spPr>
          <a:xfrm>
            <a:off x="502920" y="109728"/>
            <a:ext cx="1060704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buNone/>
            </a:pPr>
            <a:r>
              <a:rPr sz="2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 Actions and Review Sign-off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159A2-F24C-4750-869A-02D785EE28A9}"/>
              </a:ext>
            </a:extLst>
          </p:cNvPr>
          <p:cNvSpPr>
            <a:spLocks noGrp="1"/>
          </p:cNvSpPr>
          <p:nvPr/>
        </p:nvSpPr>
        <p:spPr>
          <a:xfrm>
            <a:off x="9966960" y="758952"/>
            <a:ext cx="169164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900" b="1" dirty="0">
                <a:solidFill>
                  <a:srgbClr val="008287"/>
                </a:solidFill>
                <a:latin typeface="Aptos"/>
                <a:ea typeface="Aptos"/>
                <a:cs typeface="Aptos"/>
              </a:rPr>
              <a:t>CLOSURE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31579-D845-42D8-8053-02579181780D}"/>
              </a:ext>
            </a:extLst>
          </p:cNvPr>
          <p:cNvSpPr>
            <a:spLocks noGrp="1"/>
          </p:cNvSpPr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buNone/>
            </a:pPr>
            <a:r>
              <a:rPr sz="10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A132D-7904-40F6-AD51-FF2E02860FAE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7772400" cy="2834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900" b="0" dirty="0">
                <a:solidFill>
                  <a:srgbClr val="5A6978"/>
                </a:solidFill>
                <a:latin typeface="Aptos"/>
                <a:ea typeface="Aptos"/>
                <a:cs typeface="Aptos"/>
              </a:rPr>
              <a:t>MINDWEAVE-R RESEARCH &amp; INNOVATION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71F2D5-BC73-4ADF-A172-B56AB3E162B3}"/>
              </a:ext>
            </a:extLst>
          </p:cNvPr>
          <p:cNvGraphicFramePr/>
          <p:nvPr/>
        </p:nvGraphicFramePr>
        <p:xfrm>
          <a:off x="594360" y="123444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Action / deliverable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Responsible person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Deadline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Evidence expected</a:t>
                      </a:r>
                    </a:p>
                  </a:txBody>
                  <a:tcPr marL="73152" marR="73152" marT="36576" marB="36576" anchor="ctr">
                    <a:solidFill>
                      <a:srgbClr val="16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1. Implement executable repair operators and post-checks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Tests for repair and rejected repairs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2. Build matched benchmark and baseline policies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Fault cases, seeds and configurations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3. Run paired trials, ablations and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Raw runs, confidence intervals, limitations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4. Draft paper and seek institute IPR guidance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________________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TBD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00" b="0" dirty="0">
                          <a:solidFill>
                            <a:srgbClr val="232D37"/>
                          </a:solidFill>
                          <a:latin typeface="Aptos"/>
                          <a:ea typeface="Aptos"/>
                          <a:cs typeface="Aptos"/>
                        </a:rPr>
                        <a:t>Manuscript draft and IPR meeting record</a:t>
                      </a:r>
                    </a:p>
                  </a:txBody>
                  <a:tcPr marL="73152" marR="73152" marT="36576" marB="36576" anchor="ctr">
                    <a:solidFill>
                      <a:srgbClr val="EF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924BC6-67C8-4CFA-AA15-B9A2775B2B78}"/>
              </a:ext>
            </a:extLst>
          </p:cNvPr>
          <p:cNvSpPr>
            <a:spLocks noGrp="1"/>
          </p:cNvSpPr>
          <p:nvPr/>
        </p:nvSpPr>
        <p:spPr>
          <a:xfrm>
            <a:off x="685800" y="4892040"/>
            <a:ext cx="347472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79BFF-A624-4E76-920B-CA9F2BCD6803}"/>
              </a:ext>
            </a:extLst>
          </p:cNvPr>
          <p:cNvSpPr>
            <a:spLocks noGrp="1"/>
          </p:cNvSpPr>
          <p:nvPr/>
        </p:nvSpPr>
        <p:spPr>
          <a:xfrm>
            <a:off x="685800" y="4892040"/>
            <a:ext cx="73152" cy="914400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65C72-0CBD-4DDE-89D7-F5767DCE85DE}"/>
              </a:ext>
            </a:extLst>
          </p:cNvPr>
          <p:cNvSpPr>
            <a:spLocks noGrp="1"/>
          </p:cNvSpPr>
          <p:nvPr/>
        </p:nvSpPr>
        <p:spPr>
          <a:xfrm>
            <a:off x="886968" y="5038344"/>
            <a:ext cx="310896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Review recommendation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7355D9-2716-4749-AD0E-52407158E7CB}"/>
              </a:ext>
            </a:extLst>
          </p:cNvPr>
          <p:cNvSpPr>
            <a:spLocks noGrp="1"/>
          </p:cNvSpPr>
          <p:nvPr/>
        </p:nvSpPr>
        <p:spPr>
          <a:xfrm>
            <a:off x="886968" y="5422392"/>
            <a:ext cx="3108960" cy="3444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3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☐ Planning  ☐ Pilot  ☐ Ready for validation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4D2B5A-70D2-4579-A399-E7CE2A090054}"/>
              </a:ext>
            </a:extLst>
          </p:cNvPr>
          <p:cNvSpPr>
            <a:spLocks noGrp="1"/>
          </p:cNvSpPr>
          <p:nvPr/>
        </p:nvSpPr>
        <p:spPr>
          <a:xfrm>
            <a:off x="4343400" y="4892040"/>
            <a:ext cx="347472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4D5D27-167D-45F8-A078-E53A397442C5}"/>
              </a:ext>
            </a:extLst>
          </p:cNvPr>
          <p:cNvSpPr>
            <a:spLocks noGrp="1"/>
          </p:cNvSpPr>
          <p:nvPr/>
        </p:nvSpPr>
        <p:spPr>
          <a:xfrm>
            <a:off x="4343400" y="4892040"/>
            <a:ext cx="73152" cy="914400"/>
          </a:xfrm>
          <a:prstGeom prst="rect">
            <a:avLst/>
          </a:prstGeom>
          <a:solidFill>
            <a:srgbClr val="39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EA36C2-3524-4DB1-8B6D-85DB189AD737}"/>
              </a:ext>
            </a:extLst>
          </p:cNvPr>
          <p:cNvSpPr>
            <a:spLocks noGrp="1"/>
          </p:cNvSpPr>
          <p:nvPr/>
        </p:nvSpPr>
        <p:spPr>
          <a:xfrm>
            <a:off x="4544568" y="5038344"/>
            <a:ext cx="310896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Student acknowledgement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E2E298-8BDC-4EF3-BB40-D0E104CF26A1}"/>
              </a:ext>
            </a:extLst>
          </p:cNvPr>
          <p:cNvSpPr>
            <a:spLocks noGrp="1"/>
          </p:cNvSpPr>
          <p:nvPr/>
        </p:nvSpPr>
        <p:spPr>
          <a:xfrm>
            <a:off x="4544568" y="5422392"/>
            <a:ext cx="3108960" cy="3444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3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Name / signature: __________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74ADE62-5C91-4AF9-BB33-5F7B0A09A912}"/>
              </a:ext>
            </a:extLst>
          </p:cNvPr>
          <p:cNvSpPr>
            <a:spLocks noGrp="1"/>
          </p:cNvSpPr>
          <p:nvPr/>
        </p:nvSpPr>
        <p:spPr>
          <a:xfrm>
            <a:off x="8001000" y="4892040"/>
            <a:ext cx="347472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EF4515-1FDC-4473-ACFD-A4BB1FEEFBB9}"/>
              </a:ext>
            </a:extLst>
          </p:cNvPr>
          <p:cNvSpPr>
            <a:spLocks noGrp="1"/>
          </p:cNvSpPr>
          <p:nvPr/>
        </p:nvSpPr>
        <p:spPr>
          <a:xfrm>
            <a:off x="8001000" y="4892040"/>
            <a:ext cx="73152" cy="914400"/>
          </a:xfrm>
          <a:prstGeom prst="rect">
            <a:avLst/>
          </a:prstGeom>
          <a:solidFill>
            <a:srgbClr val="E0A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DAD84A-7825-4293-8A51-7E2A15946022}"/>
              </a:ext>
            </a:extLst>
          </p:cNvPr>
          <p:cNvSpPr>
            <a:spLocks noGrp="1"/>
          </p:cNvSpPr>
          <p:nvPr/>
        </p:nvSpPr>
        <p:spPr>
          <a:xfrm>
            <a:off x="8202168" y="5038344"/>
            <a:ext cx="3108960" cy="4053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700" b="1" dirty="0">
                <a:solidFill>
                  <a:srgbClr val="162D4E"/>
                </a:solidFill>
                <a:latin typeface="Aptos"/>
                <a:ea typeface="Aptos"/>
                <a:cs typeface="Aptos"/>
              </a:rPr>
              <a:t>Mentor / panel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34DC1C-1DD7-41F7-9487-92C36B79CDE7}"/>
              </a:ext>
            </a:extLst>
          </p:cNvPr>
          <p:cNvSpPr>
            <a:spLocks noGrp="1"/>
          </p:cNvSpPr>
          <p:nvPr/>
        </p:nvSpPr>
        <p:spPr>
          <a:xfrm>
            <a:off x="8202168" y="5422392"/>
            <a:ext cx="3108960" cy="34442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buNone/>
            </a:pPr>
            <a:r>
              <a:rPr sz="1300" b="0" dirty="0">
                <a:solidFill>
                  <a:srgbClr val="232D37"/>
                </a:solidFill>
                <a:latin typeface="Aptos"/>
                <a:ea typeface="Aptos"/>
                <a:cs typeface="Aptos"/>
              </a:rPr>
              <a:t>Name / signature: __________</a:t>
            </a:r>
          </a:p>
        </p:txBody>
      </p:sp>
    </p:spTree>
    <p:extLst>
      <p:ext uri="{BB962C8B-B14F-4D97-AF65-F5344CB8AC3E}">
        <p14:creationId xmlns:p14="http://schemas.microsoft.com/office/powerpoint/2010/main" val="2066665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1731</Words>
  <Application>Microsoft Office PowerPoint</Application>
  <DocSecurity>0</DocSecurity>
  <PresentationFormat>Widescreen</PresentationFormat>
  <Paragraphs>316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Tilak Garg</cp:lastModifiedBy>
  <cp:revision>3</cp:revision>
  <dcterms:created xsi:type="dcterms:W3CDTF">2026-10-21T18:05:14Z</dcterms:created>
  <dcterms:modified xsi:type="dcterms:W3CDTF">2026-10-22T05:07:37Z</dcterms:modified>
</cp:coreProperties>
</file>